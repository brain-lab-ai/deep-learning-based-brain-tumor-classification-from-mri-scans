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8" r:id="rId14"/>
    <p:sldId id="271" r:id="rId15"/>
    <p:sldId id="267" r:id="rId16"/>
    <p:sldId id="272" r:id="rId17"/>
    <p:sldId id="273" r:id="rId18"/>
    <p:sldId id="26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83" d="100"/>
          <a:sy n="83" d="100"/>
        </p:scale>
        <p:origin x="45"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D36230-9DFA-419E-83E0-F43866F95C21}"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GB"/>
        </a:p>
      </dgm:t>
    </dgm:pt>
    <dgm:pt modelId="{D432838F-E9CD-4BA3-B08C-069085D2C28A}">
      <dgm:prSet phldrT="[Text]" phldr="0"/>
      <dgm:spPr/>
      <dgm:t>
        <a:bodyPr/>
        <a:lstStyle/>
        <a:p>
          <a:r>
            <a:rPr lang="en-US" dirty="0"/>
            <a:t>Machine learning </a:t>
          </a:r>
          <a:endParaRPr lang="en-GB" dirty="0"/>
        </a:p>
      </dgm:t>
    </dgm:pt>
    <dgm:pt modelId="{A7E9098F-41BC-4F7A-ADBD-6AE9C5B45B4F}" type="parTrans" cxnId="{E08063F0-A068-4ACE-9FC9-56E7BA1F2C50}">
      <dgm:prSet/>
      <dgm:spPr/>
      <dgm:t>
        <a:bodyPr/>
        <a:lstStyle/>
        <a:p>
          <a:endParaRPr lang="en-GB"/>
        </a:p>
      </dgm:t>
    </dgm:pt>
    <dgm:pt modelId="{7B7D12AB-3D50-4664-BB8F-9D7227313F25}" type="sibTrans" cxnId="{E08063F0-A068-4ACE-9FC9-56E7BA1F2C50}">
      <dgm:prSet/>
      <dgm:spPr/>
      <dgm:t>
        <a:bodyPr/>
        <a:lstStyle/>
        <a:p>
          <a:endParaRPr lang="en-GB"/>
        </a:p>
      </dgm:t>
    </dgm:pt>
    <dgm:pt modelId="{2325D468-202C-4AE5-8814-8C50C464339D}">
      <dgm:prSet phldrT="[Text]" phldr="0" custT="1"/>
      <dgm:spPr/>
      <dgm:t>
        <a:bodyPr/>
        <a:lstStyle/>
        <a:p>
          <a:r>
            <a:rPr lang="en-US" sz="1800" dirty="0"/>
            <a:t>Feature extraction methods such as  </a:t>
          </a:r>
          <a:r>
            <a:rPr lang="en-GB" sz="1800" dirty="0"/>
            <a:t>Wavelet Transform (GWT), Local Binary Pattern (LBP)</a:t>
          </a:r>
        </a:p>
      </dgm:t>
    </dgm:pt>
    <dgm:pt modelId="{F7C75534-D64B-41A1-BC36-8E89DAC0D32D}" type="parTrans" cxnId="{804A248D-90EF-4C70-BD0A-9B97A89E2967}">
      <dgm:prSet/>
      <dgm:spPr/>
      <dgm:t>
        <a:bodyPr/>
        <a:lstStyle/>
        <a:p>
          <a:endParaRPr lang="en-GB"/>
        </a:p>
      </dgm:t>
    </dgm:pt>
    <dgm:pt modelId="{50156E0D-FACA-423C-9F22-2388E4B93D41}" type="sibTrans" cxnId="{804A248D-90EF-4C70-BD0A-9B97A89E2967}">
      <dgm:prSet/>
      <dgm:spPr/>
      <dgm:t>
        <a:bodyPr/>
        <a:lstStyle/>
        <a:p>
          <a:endParaRPr lang="en-GB"/>
        </a:p>
      </dgm:t>
    </dgm:pt>
    <dgm:pt modelId="{573E408D-C3AC-4CDB-BB31-C6D44A4A3D32}">
      <dgm:prSet phldrT="[Text]" phldr="0" custT="1"/>
      <dgm:spPr/>
      <dgm:t>
        <a:bodyPr/>
        <a:lstStyle/>
        <a:p>
          <a:r>
            <a:rPr lang="en-US" sz="1800" dirty="0"/>
            <a:t>Classifiers such as KNN,SVM</a:t>
          </a:r>
          <a:endParaRPr lang="en-GB" sz="1800" dirty="0"/>
        </a:p>
      </dgm:t>
    </dgm:pt>
    <dgm:pt modelId="{0BD47108-C78D-4199-96C0-4B0054406CC2}" type="parTrans" cxnId="{76D4D3DC-9F3B-4254-8BBD-A5531B25E61D}">
      <dgm:prSet/>
      <dgm:spPr/>
      <dgm:t>
        <a:bodyPr/>
        <a:lstStyle/>
        <a:p>
          <a:endParaRPr lang="en-GB"/>
        </a:p>
      </dgm:t>
    </dgm:pt>
    <dgm:pt modelId="{0BEF649B-3630-4089-8DFF-AC1DC124A79E}" type="sibTrans" cxnId="{76D4D3DC-9F3B-4254-8BBD-A5531B25E61D}">
      <dgm:prSet/>
      <dgm:spPr/>
      <dgm:t>
        <a:bodyPr/>
        <a:lstStyle/>
        <a:p>
          <a:endParaRPr lang="en-GB"/>
        </a:p>
      </dgm:t>
    </dgm:pt>
    <dgm:pt modelId="{AC89B4E8-944F-4FA6-9B19-D7151B96229D}">
      <dgm:prSet phldrT="[Text]" phldr="0"/>
      <dgm:spPr/>
      <dgm:t>
        <a:bodyPr/>
        <a:lstStyle/>
        <a:p>
          <a:r>
            <a:rPr lang="en-US" dirty="0"/>
            <a:t>Deep learning </a:t>
          </a:r>
          <a:endParaRPr lang="en-GB" dirty="0"/>
        </a:p>
      </dgm:t>
    </dgm:pt>
    <dgm:pt modelId="{A7285F9E-A158-49BC-893B-F0B9358DF42B}" type="parTrans" cxnId="{C89FD302-5924-4DF8-A3EF-1BC2377AA3A7}">
      <dgm:prSet/>
      <dgm:spPr/>
      <dgm:t>
        <a:bodyPr/>
        <a:lstStyle/>
        <a:p>
          <a:endParaRPr lang="en-GB"/>
        </a:p>
      </dgm:t>
    </dgm:pt>
    <dgm:pt modelId="{92863FC2-D31A-4DEC-8B9D-4FF9586D4F32}" type="sibTrans" cxnId="{C89FD302-5924-4DF8-A3EF-1BC2377AA3A7}">
      <dgm:prSet/>
      <dgm:spPr/>
      <dgm:t>
        <a:bodyPr/>
        <a:lstStyle/>
        <a:p>
          <a:endParaRPr lang="en-GB"/>
        </a:p>
      </dgm:t>
    </dgm:pt>
    <dgm:pt modelId="{EFB255DB-40E1-4F43-8620-023FE2325E7C}">
      <dgm:prSet phldrT="[Text]" phldr="0" custT="1"/>
      <dgm:spPr/>
      <dgm:t>
        <a:bodyPr/>
        <a:lstStyle/>
        <a:p>
          <a:r>
            <a:rPr lang="en-US" sz="1800" dirty="0"/>
            <a:t>Learn data such as CNN and LSTM.</a:t>
          </a:r>
          <a:endParaRPr lang="en-GB" sz="1800" dirty="0"/>
        </a:p>
      </dgm:t>
    </dgm:pt>
    <dgm:pt modelId="{36AF57A3-9073-4524-B90A-E045D59FF2D0}" type="parTrans" cxnId="{1AFB250F-C330-4F1E-870D-13197FE27732}">
      <dgm:prSet/>
      <dgm:spPr/>
      <dgm:t>
        <a:bodyPr/>
        <a:lstStyle/>
        <a:p>
          <a:endParaRPr lang="en-GB"/>
        </a:p>
      </dgm:t>
    </dgm:pt>
    <dgm:pt modelId="{0C15EB19-A3F7-47CB-89FE-CBCD8E7FF9CF}" type="sibTrans" cxnId="{1AFB250F-C330-4F1E-870D-13197FE27732}">
      <dgm:prSet/>
      <dgm:spPr/>
      <dgm:t>
        <a:bodyPr/>
        <a:lstStyle/>
        <a:p>
          <a:endParaRPr lang="en-GB"/>
        </a:p>
      </dgm:t>
    </dgm:pt>
    <dgm:pt modelId="{56ACB250-668B-4340-8EB2-266C8E71AE73}">
      <dgm:prSet phldrT="[Text]" phldr="0"/>
      <dgm:spPr/>
      <dgm:t>
        <a:bodyPr/>
        <a:lstStyle/>
        <a:p>
          <a:r>
            <a:rPr lang="en-US" dirty="0"/>
            <a:t>Transfer models</a:t>
          </a:r>
          <a:endParaRPr lang="en-GB" dirty="0"/>
        </a:p>
      </dgm:t>
    </dgm:pt>
    <dgm:pt modelId="{2B19C925-BA8B-4ECA-9F80-CF4ECD448827}" type="parTrans" cxnId="{DC35D33C-3575-4218-B63F-6883D7D3AAA8}">
      <dgm:prSet/>
      <dgm:spPr/>
      <dgm:t>
        <a:bodyPr/>
        <a:lstStyle/>
        <a:p>
          <a:endParaRPr lang="en-GB"/>
        </a:p>
      </dgm:t>
    </dgm:pt>
    <dgm:pt modelId="{FFD1E02C-6BCE-44DC-9B24-C32D9AD84D33}" type="sibTrans" cxnId="{DC35D33C-3575-4218-B63F-6883D7D3AAA8}">
      <dgm:prSet/>
      <dgm:spPr/>
      <dgm:t>
        <a:bodyPr/>
        <a:lstStyle/>
        <a:p>
          <a:endParaRPr lang="en-GB"/>
        </a:p>
      </dgm:t>
    </dgm:pt>
    <dgm:pt modelId="{2ABAF228-D45E-4D31-8E44-41B202BB4A0E}">
      <dgm:prSet phldrT="[Text]" phldr="0" custT="1"/>
      <dgm:spPr/>
      <dgm:t>
        <a:bodyPr/>
        <a:lstStyle/>
        <a:p>
          <a:r>
            <a:rPr lang="en-US" sz="1800" dirty="0"/>
            <a:t>Pretrained models</a:t>
          </a:r>
          <a:endParaRPr lang="en-GB" sz="1800" dirty="0"/>
        </a:p>
      </dgm:t>
    </dgm:pt>
    <dgm:pt modelId="{2EABBE86-4585-4142-BA5E-538A388BA61C}" type="parTrans" cxnId="{9AD9B41E-AAFD-4FBB-9B56-E9273D6352DF}">
      <dgm:prSet/>
      <dgm:spPr/>
      <dgm:t>
        <a:bodyPr/>
        <a:lstStyle/>
        <a:p>
          <a:endParaRPr lang="en-GB"/>
        </a:p>
      </dgm:t>
    </dgm:pt>
    <dgm:pt modelId="{4DA12FC9-1E0F-4F8C-9327-4C682F6D277F}" type="sibTrans" cxnId="{9AD9B41E-AAFD-4FBB-9B56-E9273D6352DF}">
      <dgm:prSet/>
      <dgm:spPr/>
      <dgm:t>
        <a:bodyPr/>
        <a:lstStyle/>
        <a:p>
          <a:endParaRPr lang="en-GB"/>
        </a:p>
      </dgm:t>
    </dgm:pt>
    <dgm:pt modelId="{8856E22E-0D2E-4FAB-B4BF-488C6AD35948}" type="pres">
      <dgm:prSet presAssocID="{22D36230-9DFA-419E-83E0-F43866F95C21}" presName="Name0" presStyleCnt="0">
        <dgm:presLayoutVars>
          <dgm:dir/>
          <dgm:animLvl val="lvl"/>
          <dgm:resizeHandles val="exact"/>
        </dgm:presLayoutVars>
      </dgm:prSet>
      <dgm:spPr/>
    </dgm:pt>
    <dgm:pt modelId="{BF731DB2-D11E-47E6-BC9D-1B4A1DDC30D8}" type="pres">
      <dgm:prSet presAssocID="{22D36230-9DFA-419E-83E0-F43866F95C21}" presName="tSp" presStyleCnt="0"/>
      <dgm:spPr/>
    </dgm:pt>
    <dgm:pt modelId="{FE4EAC57-1E00-4707-A30B-A353AF52464C}" type="pres">
      <dgm:prSet presAssocID="{22D36230-9DFA-419E-83E0-F43866F95C21}" presName="bSp" presStyleCnt="0"/>
      <dgm:spPr/>
    </dgm:pt>
    <dgm:pt modelId="{8F52186E-8A93-4889-90FF-98A213626F5A}" type="pres">
      <dgm:prSet presAssocID="{22D36230-9DFA-419E-83E0-F43866F95C21}" presName="process" presStyleCnt="0"/>
      <dgm:spPr/>
    </dgm:pt>
    <dgm:pt modelId="{E3E77AB3-5B04-4F52-9A21-8A76D4B1DBCC}" type="pres">
      <dgm:prSet presAssocID="{D432838F-E9CD-4BA3-B08C-069085D2C28A}" presName="composite1" presStyleCnt="0"/>
      <dgm:spPr/>
    </dgm:pt>
    <dgm:pt modelId="{FA65CB62-D03E-4E38-8822-219DBE75FFAA}" type="pres">
      <dgm:prSet presAssocID="{D432838F-E9CD-4BA3-B08C-069085D2C28A}" presName="dummyNode1" presStyleLbl="node1" presStyleIdx="0" presStyleCnt="3"/>
      <dgm:spPr/>
    </dgm:pt>
    <dgm:pt modelId="{311BCF8F-BCC5-41C6-828C-BA79D3D0DBF5}" type="pres">
      <dgm:prSet presAssocID="{D432838F-E9CD-4BA3-B08C-069085D2C28A}" presName="childNode1" presStyleLbl="bgAcc1" presStyleIdx="0" presStyleCnt="3" custScaleY="130237">
        <dgm:presLayoutVars>
          <dgm:bulletEnabled val="1"/>
        </dgm:presLayoutVars>
      </dgm:prSet>
      <dgm:spPr/>
    </dgm:pt>
    <dgm:pt modelId="{B380FAB9-D4F6-443B-A77A-CD7AB3C1651A}" type="pres">
      <dgm:prSet presAssocID="{D432838F-E9CD-4BA3-B08C-069085D2C28A}" presName="childNode1tx" presStyleLbl="bgAcc1" presStyleIdx="0" presStyleCnt="3">
        <dgm:presLayoutVars>
          <dgm:bulletEnabled val="1"/>
        </dgm:presLayoutVars>
      </dgm:prSet>
      <dgm:spPr/>
    </dgm:pt>
    <dgm:pt modelId="{96118644-944F-4E94-A8A5-7F6482F63CDB}" type="pres">
      <dgm:prSet presAssocID="{D432838F-E9CD-4BA3-B08C-069085D2C28A}" presName="parentNode1" presStyleLbl="node1" presStyleIdx="0" presStyleCnt="3">
        <dgm:presLayoutVars>
          <dgm:chMax val="1"/>
          <dgm:bulletEnabled val="1"/>
        </dgm:presLayoutVars>
      </dgm:prSet>
      <dgm:spPr/>
    </dgm:pt>
    <dgm:pt modelId="{ECB46862-6CD5-4801-B298-CDC1093195AC}" type="pres">
      <dgm:prSet presAssocID="{D432838F-E9CD-4BA3-B08C-069085D2C28A}" presName="connSite1" presStyleCnt="0"/>
      <dgm:spPr/>
    </dgm:pt>
    <dgm:pt modelId="{617E6EC6-23AA-4EAD-903D-8EBDCFD2A2D6}" type="pres">
      <dgm:prSet presAssocID="{7B7D12AB-3D50-4664-BB8F-9D7227313F25}" presName="Name9" presStyleLbl="sibTrans2D1" presStyleIdx="0" presStyleCnt="2"/>
      <dgm:spPr/>
    </dgm:pt>
    <dgm:pt modelId="{94BD130C-55B7-4E13-9002-99B6FC812700}" type="pres">
      <dgm:prSet presAssocID="{AC89B4E8-944F-4FA6-9B19-D7151B96229D}" presName="composite2" presStyleCnt="0"/>
      <dgm:spPr/>
    </dgm:pt>
    <dgm:pt modelId="{C121CED7-B21C-4079-A971-F51C04683DC2}" type="pres">
      <dgm:prSet presAssocID="{AC89B4E8-944F-4FA6-9B19-D7151B96229D}" presName="dummyNode2" presStyleLbl="node1" presStyleIdx="0" presStyleCnt="3"/>
      <dgm:spPr/>
    </dgm:pt>
    <dgm:pt modelId="{136983AC-903A-4E6B-B1F8-981FCAF0A785}" type="pres">
      <dgm:prSet presAssocID="{AC89B4E8-944F-4FA6-9B19-D7151B96229D}" presName="childNode2" presStyleLbl="bgAcc1" presStyleIdx="1" presStyleCnt="3">
        <dgm:presLayoutVars>
          <dgm:bulletEnabled val="1"/>
        </dgm:presLayoutVars>
      </dgm:prSet>
      <dgm:spPr/>
    </dgm:pt>
    <dgm:pt modelId="{E1932EA6-FD31-44D8-AC84-4B2CC3ADC5CB}" type="pres">
      <dgm:prSet presAssocID="{AC89B4E8-944F-4FA6-9B19-D7151B96229D}" presName="childNode2tx" presStyleLbl="bgAcc1" presStyleIdx="1" presStyleCnt="3">
        <dgm:presLayoutVars>
          <dgm:bulletEnabled val="1"/>
        </dgm:presLayoutVars>
      </dgm:prSet>
      <dgm:spPr/>
    </dgm:pt>
    <dgm:pt modelId="{9A67E0E5-6969-4C73-ACED-1D5C55A033FA}" type="pres">
      <dgm:prSet presAssocID="{AC89B4E8-944F-4FA6-9B19-D7151B96229D}" presName="parentNode2" presStyleLbl="node1" presStyleIdx="1" presStyleCnt="3">
        <dgm:presLayoutVars>
          <dgm:chMax val="0"/>
          <dgm:bulletEnabled val="1"/>
        </dgm:presLayoutVars>
      </dgm:prSet>
      <dgm:spPr/>
    </dgm:pt>
    <dgm:pt modelId="{E18CBB20-A685-4B41-87CC-7C2E72C4798D}" type="pres">
      <dgm:prSet presAssocID="{AC89B4E8-944F-4FA6-9B19-D7151B96229D}" presName="connSite2" presStyleCnt="0"/>
      <dgm:spPr/>
    </dgm:pt>
    <dgm:pt modelId="{B2264245-5078-41A0-892E-EEAE18F8558B}" type="pres">
      <dgm:prSet presAssocID="{92863FC2-D31A-4DEC-8B9D-4FF9586D4F32}" presName="Name18" presStyleLbl="sibTrans2D1" presStyleIdx="1" presStyleCnt="2"/>
      <dgm:spPr/>
    </dgm:pt>
    <dgm:pt modelId="{C6295225-DF1A-4154-99BA-E9E40D8AF732}" type="pres">
      <dgm:prSet presAssocID="{56ACB250-668B-4340-8EB2-266C8E71AE73}" presName="composite1" presStyleCnt="0"/>
      <dgm:spPr/>
    </dgm:pt>
    <dgm:pt modelId="{855E0A03-EE34-4663-B96E-1A639C391D22}" type="pres">
      <dgm:prSet presAssocID="{56ACB250-668B-4340-8EB2-266C8E71AE73}" presName="dummyNode1" presStyleLbl="node1" presStyleIdx="1" presStyleCnt="3"/>
      <dgm:spPr/>
    </dgm:pt>
    <dgm:pt modelId="{3ECC73EB-30FF-4D21-B1A1-B076791C4019}" type="pres">
      <dgm:prSet presAssocID="{56ACB250-668B-4340-8EB2-266C8E71AE73}" presName="childNode1" presStyleLbl="bgAcc1" presStyleIdx="2" presStyleCnt="3">
        <dgm:presLayoutVars>
          <dgm:bulletEnabled val="1"/>
        </dgm:presLayoutVars>
      </dgm:prSet>
      <dgm:spPr/>
    </dgm:pt>
    <dgm:pt modelId="{36E2E7A7-73E3-4A2C-B8CB-D55D9DB10B2E}" type="pres">
      <dgm:prSet presAssocID="{56ACB250-668B-4340-8EB2-266C8E71AE73}" presName="childNode1tx" presStyleLbl="bgAcc1" presStyleIdx="2" presStyleCnt="3">
        <dgm:presLayoutVars>
          <dgm:bulletEnabled val="1"/>
        </dgm:presLayoutVars>
      </dgm:prSet>
      <dgm:spPr/>
    </dgm:pt>
    <dgm:pt modelId="{23221C91-10FE-4408-987A-C71B8887742C}" type="pres">
      <dgm:prSet presAssocID="{56ACB250-668B-4340-8EB2-266C8E71AE73}" presName="parentNode1" presStyleLbl="node1" presStyleIdx="2" presStyleCnt="3">
        <dgm:presLayoutVars>
          <dgm:chMax val="1"/>
          <dgm:bulletEnabled val="1"/>
        </dgm:presLayoutVars>
      </dgm:prSet>
      <dgm:spPr/>
    </dgm:pt>
    <dgm:pt modelId="{88FD92BA-A88B-494E-8EE6-3C248BFF86B1}" type="pres">
      <dgm:prSet presAssocID="{56ACB250-668B-4340-8EB2-266C8E71AE73}" presName="connSite1" presStyleCnt="0"/>
      <dgm:spPr/>
    </dgm:pt>
  </dgm:ptLst>
  <dgm:cxnLst>
    <dgm:cxn modelId="{C89FD302-5924-4DF8-A3EF-1BC2377AA3A7}" srcId="{22D36230-9DFA-419E-83E0-F43866F95C21}" destId="{AC89B4E8-944F-4FA6-9B19-D7151B96229D}" srcOrd="1" destOrd="0" parTransId="{A7285F9E-A158-49BC-893B-F0B9358DF42B}" sibTransId="{92863FC2-D31A-4DEC-8B9D-4FF9586D4F32}"/>
    <dgm:cxn modelId="{F866E604-AEF5-4D3E-8DF4-7A791B8285EF}" type="presOf" srcId="{2325D468-202C-4AE5-8814-8C50C464339D}" destId="{311BCF8F-BCC5-41C6-828C-BA79D3D0DBF5}" srcOrd="0" destOrd="0" presId="urn:microsoft.com/office/officeart/2005/8/layout/hProcess4"/>
    <dgm:cxn modelId="{1AFB250F-C330-4F1E-870D-13197FE27732}" srcId="{AC89B4E8-944F-4FA6-9B19-D7151B96229D}" destId="{EFB255DB-40E1-4F43-8620-023FE2325E7C}" srcOrd="0" destOrd="0" parTransId="{36AF57A3-9073-4524-B90A-E045D59FF2D0}" sibTransId="{0C15EB19-A3F7-47CB-89FE-CBCD8E7FF9CF}"/>
    <dgm:cxn modelId="{E68EB913-8FA5-4FE0-827E-E900E26ADEC6}" type="presOf" srcId="{573E408D-C3AC-4CDB-BB31-C6D44A4A3D32}" destId="{B380FAB9-D4F6-443B-A77A-CD7AB3C1651A}" srcOrd="1" destOrd="1" presId="urn:microsoft.com/office/officeart/2005/8/layout/hProcess4"/>
    <dgm:cxn modelId="{9AD9B41E-AAFD-4FBB-9B56-E9273D6352DF}" srcId="{56ACB250-668B-4340-8EB2-266C8E71AE73}" destId="{2ABAF228-D45E-4D31-8E44-41B202BB4A0E}" srcOrd="0" destOrd="0" parTransId="{2EABBE86-4585-4142-BA5E-538A388BA61C}" sibTransId="{4DA12FC9-1E0F-4F8C-9327-4C682F6D277F}"/>
    <dgm:cxn modelId="{BF0DDE2C-2F89-4056-8945-49F996FD7B9F}" type="presOf" srcId="{EFB255DB-40E1-4F43-8620-023FE2325E7C}" destId="{E1932EA6-FD31-44D8-AC84-4B2CC3ADC5CB}" srcOrd="1" destOrd="0" presId="urn:microsoft.com/office/officeart/2005/8/layout/hProcess4"/>
    <dgm:cxn modelId="{2760E633-A849-4BB2-BCE0-4882B48D4992}" type="presOf" srcId="{22D36230-9DFA-419E-83E0-F43866F95C21}" destId="{8856E22E-0D2E-4FAB-B4BF-488C6AD35948}" srcOrd="0" destOrd="0" presId="urn:microsoft.com/office/officeart/2005/8/layout/hProcess4"/>
    <dgm:cxn modelId="{DC35D33C-3575-4218-B63F-6883D7D3AAA8}" srcId="{22D36230-9DFA-419E-83E0-F43866F95C21}" destId="{56ACB250-668B-4340-8EB2-266C8E71AE73}" srcOrd="2" destOrd="0" parTransId="{2B19C925-BA8B-4ECA-9F80-CF4ECD448827}" sibTransId="{FFD1E02C-6BCE-44DC-9B24-C32D9AD84D33}"/>
    <dgm:cxn modelId="{AED23F6A-9A5E-42BF-BF10-9A92D7AD3D8D}" type="presOf" srcId="{2ABAF228-D45E-4D31-8E44-41B202BB4A0E}" destId="{36E2E7A7-73E3-4A2C-B8CB-D55D9DB10B2E}" srcOrd="1" destOrd="0" presId="urn:microsoft.com/office/officeart/2005/8/layout/hProcess4"/>
    <dgm:cxn modelId="{CB891F54-6EE1-4FC0-A0B9-32F227C45918}" type="presOf" srcId="{7B7D12AB-3D50-4664-BB8F-9D7227313F25}" destId="{617E6EC6-23AA-4EAD-903D-8EBDCFD2A2D6}" srcOrd="0" destOrd="0" presId="urn:microsoft.com/office/officeart/2005/8/layout/hProcess4"/>
    <dgm:cxn modelId="{91AD8855-A24F-484A-995B-F838C539DF75}" type="presOf" srcId="{92863FC2-D31A-4DEC-8B9D-4FF9586D4F32}" destId="{B2264245-5078-41A0-892E-EEAE18F8558B}" srcOrd="0" destOrd="0" presId="urn:microsoft.com/office/officeart/2005/8/layout/hProcess4"/>
    <dgm:cxn modelId="{1D668986-0F34-4ABA-B89C-AF0BF3AD9923}" type="presOf" srcId="{2ABAF228-D45E-4D31-8E44-41B202BB4A0E}" destId="{3ECC73EB-30FF-4D21-B1A1-B076791C4019}" srcOrd="0" destOrd="0" presId="urn:microsoft.com/office/officeart/2005/8/layout/hProcess4"/>
    <dgm:cxn modelId="{F694C986-5B79-4DCF-95B9-6718AAC78836}" type="presOf" srcId="{2325D468-202C-4AE5-8814-8C50C464339D}" destId="{B380FAB9-D4F6-443B-A77A-CD7AB3C1651A}" srcOrd="1" destOrd="0" presId="urn:microsoft.com/office/officeart/2005/8/layout/hProcess4"/>
    <dgm:cxn modelId="{643A5089-CBEC-4DFF-A323-CC7A6AF7F2AA}" type="presOf" srcId="{56ACB250-668B-4340-8EB2-266C8E71AE73}" destId="{23221C91-10FE-4408-987A-C71B8887742C}" srcOrd="0" destOrd="0" presId="urn:microsoft.com/office/officeart/2005/8/layout/hProcess4"/>
    <dgm:cxn modelId="{804A248D-90EF-4C70-BD0A-9B97A89E2967}" srcId="{D432838F-E9CD-4BA3-B08C-069085D2C28A}" destId="{2325D468-202C-4AE5-8814-8C50C464339D}" srcOrd="0" destOrd="0" parTransId="{F7C75534-D64B-41A1-BC36-8E89DAC0D32D}" sibTransId="{50156E0D-FACA-423C-9F22-2388E4B93D41}"/>
    <dgm:cxn modelId="{1CF52595-96E4-43C2-AB08-98C8EBD58D65}" type="presOf" srcId="{573E408D-C3AC-4CDB-BB31-C6D44A4A3D32}" destId="{311BCF8F-BCC5-41C6-828C-BA79D3D0DBF5}" srcOrd="0" destOrd="1" presId="urn:microsoft.com/office/officeart/2005/8/layout/hProcess4"/>
    <dgm:cxn modelId="{A65729A0-7113-4FFD-BEDA-663D162797F7}" type="presOf" srcId="{AC89B4E8-944F-4FA6-9B19-D7151B96229D}" destId="{9A67E0E5-6969-4C73-ACED-1D5C55A033FA}" srcOrd="0" destOrd="0" presId="urn:microsoft.com/office/officeart/2005/8/layout/hProcess4"/>
    <dgm:cxn modelId="{DD8D46B9-C34A-48D0-A35D-0772B2F9F0D5}" type="presOf" srcId="{EFB255DB-40E1-4F43-8620-023FE2325E7C}" destId="{136983AC-903A-4E6B-B1F8-981FCAF0A785}" srcOrd="0" destOrd="0" presId="urn:microsoft.com/office/officeart/2005/8/layout/hProcess4"/>
    <dgm:cxn modelId="{6B12A8DB-3D61-40D4-BCDA-7A33060C583B}" type="presOf" srcId="{D432838F-E9CD-4BA3-B08C-069085D2C28A}" destId="{96118644-944F-4E94-A8A5-7F6482F63CDB}" srcOrd="0" destOrd="0" presId="urn:microsoft.com/office/officeart/2005/8/layout/hProcess4"/>
    <dgm:cxn modelId="{76D4D3DC-9F3B-4254-8BBD-A5531B25E61D}" srcId="{D432838F-E9CD-4BA3-B08C-069085D2C28A}" destId="{573E408D-C3AC-4CDB-BB31-C6D44A4A3D32}" srcOrd="1" destOrd="0" parTransId="{0BD47108-C78D-4199-96C0-4B0054406CC2}" sibTransId="{0BEF649B-3630-4089-8DFF-AC1DC124A79E}"/>
    <dgm:cxn modelId="{E08063F0-A068-4ACE-9FC9-56E7BA1F2C50}" srcId="{22D36230-9DFA-419E-83E0-F43866F95C21}" destId="{D432838F-E9CD-4BA3-B08C-069085D2C28A}" srcOrd="0" destOrd="0" parTransId="{A7E9098F-41BC-4F7A-ADBD-6AE9C5B45B4F}" sibTransId="{7B7D12AB-3D50-4664-BB8F-9D7227313F25}"/>
    <dgm:cxn modelId="{EE2691C6-1465-462E-9CA0-E5B5EE24B6B8}" type="presParOf" srcId="{8856E22E-0D2E-4FAB-B4BF-488C6AD35948}" destId="{BF731DB2-D11E-47E6-BC9D-1B4A1DDC30D8}" srcOrd="0" destOrd="0" presId="urn:microsoft.com/office/officeart/2005/8/layout/hProcess4"/>
    <dgm:cxn modelId="{4DD88832-17B2-4E70-953E-74A478C29E8E}" type="presParOf" srcId="{8856E22E-0D2E-4FAB-B4BF-488C6AD35948}" destId="{FE4EAC57-1E00-4707-A30B-A353AF52464C}" srcOrd="1" destOrd="0" presId="urn:microsoft.com/office/officeart/2005/8/layout/hProcess4"/>
    <dgm:cxn modelId="{B825996B-1FD8-4D73-A935-43241CA372A6}" type="presParOf" srcId="{8856E22E-0D2E-4FAB-B4BF-488C6AD35948}" destId="{8F52186E-8A93-4889-90FF-98A213626F5A}" srcOrd="2" destOrd="0" presId="urn:microsoft.com/office/officeart/2005/8/layout/hProcess4"/>
    <dgm:cxn modelId="{62D92925-FB75-4019-9AC2-A5497ED5FFB5}" type="presParOf" srcId="{8F52186E-8A93-4889-90FF-98A213626F5A}" destId="{E3E77AB3-5B04-4F52-9A21-8A76D4B1DBCC}" srcOrd="0" destOrd="0" presId="urn:microsoft.com/office/officeart/2005/8/layout/hProcess4"/>
    <dgm:cxn modelId="{AA2BBEFF-E37D-484D-9C24-D547256EC5C1}" type="presParOf" srcId="{E3E77AB3-5B04-4F52-9A21-8A76D4B1DBCC}" destId="{FA65CB62-D03E-4E38-8822-219DBE75FFAA}" srcOrd="0" destOrd="0" presId="urn:microsoft.com/office/officeart/2005/8/layout/hProcess4"/>
    <dgm:cxn modelId="{DD6FEB17-AE47-46E9-8C2A-2F609F7ED696}" type="presParOf" srcId="{E3E77AB3-5B04-4F52-9A21-8A76D4B1DBCC}" destId="{311BCF8F-BCC5-41C6-828C-BA79D3D0DBF5}" srcOrd="1" destOrd="0" presId="urn:microsoft.com/office/officeart/2005/8/layout/hProcess4"/>
    <dgm:cxn modelId="{4973848C-F60D-4B7B-A05A-5E7588AC3F11}" type="presParOf" srcId="{E3E77AB3-5B04-4F52-9A21-8A76D4B1DBCC}" destId="{B380FAB9-D4F6-443B-A77A-CD7AB3C1651A}" srcOrd="2" destOrd="0" presId="urn:microsoft.com/office/officeart/2005/8/layout/hProcess4"/>
    <dgm:cxn modelId="{EB96F389-89A2-4DB7-B14B-64F4CFF9F98A}" type="presParOf" srcId="{E3E77AB3-5B04-4F52-9A21-8A76D4B1DBCC}" destId="{96118644-944F-4E94-A8A5-7F6482F63CDB}" srcOrd="3" destOrd="0" presId="urn:microsoft.com/office/officeart/2005/8/layout/hProcess4"/>
    <dgm:cxn modelId="{A158F739-CB5C-49FD-9EF6-00362CC5F6C6}" type="presParOf" srcId="{E3E77AB3-5B04-4F52-9A21-8A76D4B1DBCC}" destId="{ECB46862-6CD5-4801-B298-CDC1093195AC}" srcOrd="4" destOrd="0" presId="urn:microsoft.com/office/officeart/2005/8/layout/hProcess4"/>
    <dgm:cxn modelId="{E6C26EAA-AE38-498C-B787-5210C1790BD4}" type="presParOf" srcId="{8F52186E-8A93-4889-90FF-98A213626F5A}" destId="{617E6EC6-23AA-4EAD-903D-8EBDCFD2A2D6}" srcOrd="1" destOrd="0" presId="urn:microsoft.com/office/officeart/2005/8/layout/hProcess4"/>
    <dgm:cxn modelId="{1336AABD-286C-4074-B9E5-E8DF3BBE8259}" type="presParOf" srcId="{8F52186E-8A93-4889-90FF-98A213626F5A}" destId="{94BD130C-55B7-4E13-9002-99B6FC812700}" srcOrd="2" destOrd="0" presId="urn:microsoft.com/office/officeart/2005/8/layout/hProcess4"/>
    <dgm:cxn modelId="{21FEED1E-6B8D-49F9-BB3F-5F66F52C308A}" type="presParOf" srcId="{94BD130C-55B7-4E13-9002-99B6FC812700}" destId="{C121CED7-B21C-4079-A971-F51C04683DC2}" srcOrd="0" destOrd="0" presId="urn:microsoft.com/office/officeart/2005/8/layout/hProcess4"/>
    <dgm:cxn modelId="{B16DAB8E-2032-4DA1-815A-04241E1A110D}" type="presParOf" srcId="{94BD130C-55B7-4E13-9002-99B6FC812700}" destId="{136983AC-903A-4E6B-B1F8-981FCAF0A785}" srcOrd="1" destOrd="0" presId="urn:microsoft.com/office/officeart/2005/8/layout/hProcess4"/>
    <dgm:cxn modelId="{AD46999E-C091-4F27-962E-6A723DE9E129}" type="presParOf" srcId="{94BD130C-55B7-4E13-9002-99B6FC812700}" destId="{E1932EA6-FD31-44D8-AC84-4B2CC3ADC5CB}" srcOrd="2" destOrd="0" presId="urn:microsoft.com/office/officeart/2005/8/layout/hProcess4"/>
    <dgm:cxn modelId="{214A1CA3-C196-4BD8-BBFD-F15A72BAC8AC}" type="presParOf" srcId="{94BD130C-55B7-4E13-9002-99B6FC812700}" destId="{9A67E0E5-6969-4C73-ACED-1D5C55A033FA}" srcOrd="3" destOrd="0" presId="urn:microsoft.com/office/officeart/2005/8/layout/hProcess4"/>
    <dgm:cxn modelId="{DE03B345-6086-4188-B192-CD2F034F29A1}" type="presParOf" srcId="{94BD130C-55B7-4E13-9002-99B6FC812700}" destId="{E18CBB20-A685-4B41-87CC-7C2E72C4798D}" srcOrd="4" destOrd="0" presId="urn:microsoft.com/office/officeart/2005/8/layout/hProcess4"/>
    <dgm:cxn modelId="{26E57C5F-1B18-407A-B9E7-D7DAE32CA884}" type="presParOf" srcId="{8F52186E-8A93-4889-90FF-98A213626F5A}" destId="{B2264245-5078-41A0-892E-EEAE18F8558B}" srcOrd="3" destOrd="0" presId="urn:microsoft.com/office/officeart/2005/8/layout/hProcess4"/>
    <dgm:cxn modelId="{6CCDF91C-54F8-4269-BDF1-0F53AA1441DD}" type="presParOf" srcId="{8F52186E-8A93-4889-90FF-98A213626F5A}" destId="{C6295225-DF1A-4154-99BA-E9E40D8AF732}" srcOrd="4" destOrd="0" presId="urn:microsoft.com/office/officeart/2005/8/layout/hProcess4"/>
    <dgm:cxn modelId="{79BC6C75-0B9D-43AF-9A82-BC0FA8BBC6C6}" type="presParOf" srcId="{C6295225-DF1A-4154-99BA-E9E40D8AF732}" destId="{855E0A03-EE34-4663-B96E-1A639C391D22}" srcOrd="0" destOrd="0" presId="urn:microsoft.com/office/officeart/2005/8/layout/hProcess4"/>
    <dgm:cxn modelId="{9709FFFD-1FCD-45F2-A318-9F24AD62C8FB}" type="presParOf" srcId="{C6295225-DF1A-4154-99BA-E9E40D8AF732}" destId="{3ECC73EB-30FF-4D21-B1A1-B076791C4019}" srcOrd="1" destOrd="0" presId="urn:microsoft.com/office/officeart/2005/8/layout/hProcess4"/>
    <dgm:cxn modelId="{ADA45C2C-9B19-4AE9-852A-37EB40472C99}" type="presParOf" srcId="{C6295225-DF1A-4154-99BA-E9E40D8AF732}" destId="{36E2E7A7-73E3-4A2C-B8CB-D55D9DB10B2E}" srcOrd="2" destOrd="0" presId="urn:microsoft.com/office/officeart/2005/8/layout/hProcess4"/>
    <dgm:cxn modelId="{388E6298-6C11-4B9B-9F08-354D4AD1D87A}" type="presParOf" srcId="{C6295225-DF1A-4154-99BA-E9E40D8AF732}" destId="{23221C91-10FE-4408-987A-C71B8887742C}" srcOrd="3" destOrd="0" presId="urn:microsoft.com/office/officeart/2005/8/layout/hProcess4"/>
    <dgm:cxn modelId="{7472B148-C61E-4099-ACC6-52AEDFD2E2BA}" type="presParOf" srcId="{C6295225-DF1A-4154-99BA-E9E40D8AF732}" destId="{88FD92BA-A88B-494E-8EE6-3C248BFF86B1}"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BCF8F-BCC5-41C6-828C-BA79D3D0DBF5}">
      <dsp:nvSpPr>
        <dsp:cNvPr id="0" name=""/>
        <dsp:cNvSpPr/>
      </dsp:nvSpPr>
      <dsp:spPr>
        <a:xfrm>
          <a:off x="4923" y="899017"/>
          <a:ext cx="2797766" cy="300531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sz="1800" kern="1200" dirty="0"/>
            <a:t>Feature extraction methods such as  </a:t>
          </a:r>
          <a:r>
            <a:rPr lang="en-GB" sz="1800" kern="1200" dirty="0"/>
            <a:t>Wavelet Transform (GWT), Local Binary Pattern (LBP)</a:t>
          </a:r>
        </a:p>
        <a:p>
          <a:pPr marL="171450" lvl="1" indent="-171450" algn="l" defTabSz="800100">
            <a:lnSpc>
              <a:spcPct val="90000"/>
            </a:lnSpc>
            <a:spcBef>
              <a:spcPct val="0"/>
            </a:spcBef>
            <a:spcAft>
              <a:spcPct val="15000"/>
            </a:spcAft>
            <a:buChar char="•"/>
          </a:pPr>
          <a:r>
            <a:rPr lang="en-US" sz="1800" kern="1200" dirty="0"/>
            <a:t>Classifiers such as KNN,SVM</a:t>
          </a:r>
          <a:endParaRPr lang="en-GB" sz="1800" kern="1200" dirty="0"/>
        </a:p>
      </dsp:txBody>
      <dsp:txXfrm>
        <a:off x="74084" y="968178"/>
        <a:ext cx="2659444" cy="2222995"/>
      </dsp:txXfrm>
    </dsp:sp>
    <dsp:sp modelId="{617E6EC6-23AA-4EAD-903D-8EBDCFD2A2D6}">
      <dsp:nvSpPr>
        <dsp:cNvPr id="0" name=""/>
        <dsp:cNvSpPr/>
      </dsp:nvSpPr>
      <dsp:spPr>
        <a:xfrm>
          <a:off x="1563017" y="1747855"/>
          <a:ext cx="3156886" cy="3156886"/>
        </a:xfrm>
        <a:prstGeom prst="leftCircularArrow">
          <a:avLst>
            <a:gd name="adj1" fmla="val 3379"/>
            <a:gd name="adj2" fmla="val 418070"/>
            <a:gd name="adj3" fmla="val 2190214"/>
            <a:gd name="adj4" fmla="val 9021122"/>
            <a:gd name="adj5" fmla="val 39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118644-944F-4E94-A8A5-7F6482F63CDB}">
      <dsp:nvSpPr>
        <dsp:cNvPr id="0" name=""/>
        <dsp:cNvSpPr/>
      </dsp:nvSpPr>
      <dsp:spPr>
        <a:xfrm>
          <a:off x="626649" y="3060979"/>
          <a:ext cx="2486903" cy="9889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Machine learning </a:t>
          </a:r>
          <a:endParaRPr lang="en-GB" sz="3000" kern="1200" dirty="0"/>
        </a:p>
      </dsp:txBody>
      <dsp:txXfrm>
        <a:off x="655615" y="3089945"/>
        <a:ext cx="2428971" cy="931027"/>
      </dsp:txXfrm>
    </dsp:sp>
    <dsp:sp modelId="{136983AC-903A-4E6B-B1F8-981FCAF0A785}">
      <dsp:nvSpPr>
        <dsp:cNvPr id="0" name=""/>
        <dsp:cNvSpPr/>
      </dsp:nvSpPr>
      <dsp:spPr>
        <a:xfrm>
          <a:off x="3621534" y="1245395"/>
          <a:ext cx="2797766" cy="230757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Learn data such as CNN and LSTM.</a:t>
          </a:r>
          <a:endParaRPr lang="en-GB" sz="1800" kern="1200" dirty="0"/>
        </a:p>
      </dsp:txBody>
      <dsp:txXfrm>
        <a:off x="3674638" y="1792979"/>
        <a:ext cx="2691558" cy="1706884"/>
      </dsp:txXfrm>
    </dsp:sp>
    <dsp:sp modelId="{B2264245-5078-41A0-892E-EEAE18F8558B}">
      <dsp:nvSpPr>
        <dsp:cNvPr id="0" name=""/>
        <dsp:cNvSpPr/>
      </dsp:nvSpPr>
      <dsp:spPr>
        <a:xfrm>
          <a:off x="5157021" y="-195609"/>
          <a:ext cx="3514377" cy="3514377"/>
        </a:xfrm>
        <a:prstGeom prst="circularArrow">
          <a:avLst>
            <a:gd name="adj1" fmla="val 3035"/>
            <a:gd name="adj2" fmla="val 372502"/>
            <a:gd name="adj3" fmla="val 19451987"/>
            <a:gd name="adj4" fmla="val 12575511"/>
            <a:gd name="adj5" fmla="val 354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A67E0E5-6969-4C73-ACED-1D5C55A033FA}">
      <dsp:nvSpPr>
        <dsp:cNvPr id="0" name=""/>
        <dsp:cNvSpPr/>
      </dsp:nvSpPr>
      <dsp:spPr>
        <a:xfrm>
          <a:off x="4243260" y="750915"/>
          <a:ext cx="2486903" cy="9889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Deep learning </a:t>
          </a:r>
          <a:endParaRPr lang="en-GB" sz="3000" kern="1200" dirty="0"/>
        </a:p>
      </dsp:txBody>
      <dsp:txXfrm>
        <a:off x="4272226" y="779881"/>
        <a:ext cx="2428971" cy="931027"/>
      </dsp:txXfrm>
    </dsp:sp>
    <dsp:sp modelId="{3ECC73EB-30FF-4D21-B1A1-B076791C4019}">
      <dsp:nvSpPr>
        <dsp:cNvPr id="0" name=""/>
        <dsp:cNvSpPr/>
      </dsp:nvSpPr>
      <dsp:spPr>
        <a:xfrm>
          <a:off x="7238144" y="1245395"/>
          <a:ext cx="2797766" cy="230757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Pretrained models</a:t>
          </a:r>
          <a:endParaRPr lang="en-GB" sz="1800" kern="1200" dirty="0"/>
        </a:p>
      </dsp:txBody>
      <dsp:txXfrm>
        <a:off x="7291248" y="1298499"/>
        <a:ext cx="2691558" cy="1706884"/>
      </dsp:txXfrm>
    </dsp:sp>
    <dsp:sp modelId="{23221C91-10FE-4408-987A-C71B8887742C}">
      <dsp:nvSpPr>
        <dsp:cNvPr id="0" name=""/>
        <dsp:cNvSpPr/>
      </dsp:nvSpPr>
      <dsp:spPr>
        <a:xfrm>
          <a:off x="7859870" y="3058487"/>
          <a:ext cx="2486903" cy="9889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Transfer models</a:t>
          </a:r>
          <a:endParaRPr lang="en-GB" sz="3000" kern="1200" dirty="0"/>
        </a:p>
      </dsp:txBody>
      <dsp:txXfrm>
        <a:off x="7888836" y="3087453"/>
        <a:ext cx="2428971" cy="9310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349889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19542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B4421-1D28-4EA3-878B-9672E60200E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151764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B4421-1D28-4EA3-878B-9672E60200E4}"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138982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B4421-1D28-4EA3-878B-9672E60200E4}" type="datetimeFigureOut">
              <a:rPr lang="en-GB" smtClean="0"/>
              <a:t>27/11/2025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729097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B4421-1D28-4EA3-878B-9672E60200E4}" type="datetimeFigureOut">
              <a:rPr lang="en-GB" smtClean="0"/>
              <a:t>27/11/2025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1075836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B4421-1D28-4EA3-878B-9672E60200E4}" type="datetimeFigureOut">
              <a:rPr lang="en-GB" smtClean="0"/>
              <a:t>27/11/2025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6081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3B4421-1D28-4EA3-878B-9672E60200E4}"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3939835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3B4421-1D28-4EA3-878B-9672E60200E4}" type="datetimeFigureOut">
              <a:rPr lang="en-GB" smtClean="0"/>
              <a:t>27/11/2025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073854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54513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773776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3B4421-1D28-4EA3-878B-9672E60200E4}" type="datetimeFigureOut">
              <a:rPr lang="en-GB" smtClean="0"/>
              <a:t>27/11/2025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CFBA91-53DD-4557-887A-DE71C88D46CD}" type="slidenum">
              <a:rPr lang="en-GB" smtClean="0"/>
              <a:t>‹#›</a:t>
            </a:fld>
            <a:endParaRPr lang="en-GB"/>
          </a:p>
        </p:txBody>
      </p:sp>
    </p:spTree>
    <p:extLst>
      <p:ext uri="{BB962C8B-B14F-4D97-AF65-F5344CB8AC3E}">
        <p14:creationId xmlns:p14="http://schemas.microsoft.com/office/powerpoint/2010/main" val="425253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D2C3A-8308-417F-0419-73A7AD262B06}"/>
              </a:ext>
            </a:extLst>
          </p:cNvPr>
          <p:cNvSpPr>
            <a:spLocks noGrp="1"/>
          </p:cNvSpPr>
          <p:nvPr>
            <p:ph type="ctrTitle"/>
          </p:nvPr>
        </p:nvSpPr>
        <p:spPr/>
        <p:txBody>
          <a:bodyPr>
            <a:noAutofit/>
          </a:bodyPr>
          <a:lstStyle/>
          <a:p>
            <a:r>
              <a:rPr lang="en-GB" sz="4800" dirty="0">
                <a:latin typeface="Times New Roman" panose="02020603050405020304" pitchFamily="18" charset="0"/>
                <a:cs typeface="Times New Roman" panose="02020603050405020304" pitchFamily="18" charset="0"/>
              </a:rPr>
              <a:t>Transformer-Enhanced </a:t>
            </a:r>
            <a:r>
              <a:rPr lang="en-GB" sz="4800" dirty="0" err="1">
                <a:latin typeface="Times New Roman" panose="02020603050405020304" pitchFamily="18" charset="0"/>
                <a:cs typeface="Times New Roman" panose="02020603050405020304" pitchFamily="18" charset="0"/>
              </a:rPr>
              <a:t>EfficientNet</a:t>
            </a:r>
            <a:r>
              <a:rPr lang="en-GB" sz="4800" dirty="0">
                <a:latin typeface="Times New Roman" panose="02020603050405020304" pitchFamily="18" charset="0"/>
                <a:cs typeface="Times New Roman" panose="02020603050405020304" pitchFamily="18" charset="0"/>
              </a:rPr>
              <a:t> Architecture for Multi-Class Brain </a:t>
            </a:r>
            <a:r>
              <a:rPr lang="en-GB" sz="4800" dirty="0" err="1">
                <a:latin typeface="Times New Roman" panose="02020603050405020304" pitchFamily="18" charset="0"/>
                <a:cs typeface="Times New Roman" panose="02020603050405020304" pitchFamily="18" charset="0"/>
              </a:rPr>
              <a:t>Tumor</a:t>
            </a:r>
            <a:r>
              <a:rPr lang="en-GB" sz="4800" dirty="0">
                <a:latin typeface="Times New Roman" panose="02020603050405020304" pitchFamily="18" charset="0"/>
                <a:cs typeface="Times New Roman" panose="02020603050405020304" pitchFamily="18" charset="0"/>
              </a:rPr>
              <a:t> Classification</a:t>
            </a:r>
          </a:p>
        </p:txBody>
      </p:sp>
      <p:sp>
        <p:nvSpPr>
          <p:cNvPr id="3" name="Subtitle 2">
            <a:extLst>
              <a:ext uri="{FF2B5EF4-FFF2-40B4-BE49-F238E27FC236}">
                <a16:creationId xmlns:a16="http://schemas.microsoft.com/office/drawing/2014/main" id="{BF4F20F8-2F9F-DDD4-504D-E86BF7B0095C}"/>
              </a:ext>
            </a:extLst>
          </p:cNvPr>
          <p:cNvSpPr>
            <a:spLocks noGrp="1"/>
          </p:cNvSpPr>
          <p:nvPr>
            <p:ph type="subTitle" idx="1"/>
          </p:nvPr>
        </p:nvSpPr>
        <p:spPr/>
        <p:txBody>
          <a:bodyPr/>
          <a:lstStyle/>
          <a:p>
            <a:r>
              <a:rPr lang="en-GB" dirty="0"/>
              <a:t>Asrar Almogbil </a:t>
            </a:r>
          </a:p>
          <a:p>
            <a:r>
              <a:rPr lang="en-GB" dirty="0"/>
              <a:t>King Fahd University of Petroleum and Minerals</a:t>
            </a:r>
          </a:p>
          <a:p>
            <a:r>
              <a:rPr lang="en-GB" dirty="0"/>
              <a:t>Supervised by: Dr. Muzammil Behzad</a:t>
            </a:r>
          </a:p>
        </p:txBody>
      </p:sp>
    </p:spTree>
    <p:extLst>
      <p:ext uri="{BB962C8B-B14F-4D97-AF65-F5344CB8AC3E}">
        <p14:creationId xmlns:p14="http://schemas.microsoft.com/office/powerpoint/2010/main" val="921760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7512A-B9A4-54CA-5785-6EDDA0EF8272}"/>
              </a:ext>
            </a:extLst>
          </p:cNvPr>
          <p:cNvSpPr>
            <a:spLocks noGrp="1"/>
          </p:cNvSpPr>
          <p:nvPr>
            <p:ph type="title"/>
          </p:nvPr>
        </p:nvSpPr>
        <p:spPr/>
        <p:txBody>
          <a:bodyPr/>
          <a:lstStyle/>
          <a:p>
            <a:r>
              <a:rPr lang="en-US" dirty="0"/>
              <a:t>Outline :</a:t>
            </a:r>
            <a:endParaRPr lang="en-GB" dirty="0"/>
          </a:p>
        </p:txBody>
      </p:sp>
      <p:sp>
        <p:nvSpPr>
          <p:cNvPr id="3" name="Content Placeholder 2">
            <a:extLst>
              <a:ext uri="{FF2B5EF4-FFF2-40B4-BE49-F238E27FC236}">
                <a16:creationId xmlns:a16="http://schemas.microsoft.com/office/drawing/2014/main" id="{87695129-CBFB-9C27-64B9-6D4FE4E4BBD8}"/>
              </a:ext>
            </a:extLst>
          </p:cNvPr>
          <p:cNvSpPr>
            <a:spLocks noGrp="1"/>
          </p:cNvSpPr>
          <p:nvPr>
            <p:ph idx="1"/>
          </p:nvPr>
        </p:nvSpPr>
        <p:spPr/>
        <p:txBody>
          <a:bodyPr>
            <a:normAutofit lnSpcReduction="10000"/>
          </a:bodyPr>
          <a:lstStyle/>
          <a:p>
            <a:r>
              <a:rPr lang="en-US" dirty="0"/>
              <a:t>Introduction</a:t>
            </a:r>
          </a:p>
          <a:p>
            <a:r>
              <a:rPr lang="en-US" dirty="0"/>
              <a:t>Literature Review</a:t>
            </a:r>
          </a:p>
          <a:p>
            <a:r>
              <a:rPr lang="en-US" dirty="0"/>
              <a:t>Limitations </a:t>
            </a:r>
          </a:p>
          <a:p>
            <a:r>
              <a:rPr lang="en-US" dirty="0"/>
              <a:t>Vanilla model and challenges</a:t>
            </a:r>
          </a:p>
          <a:p>
            <a:r>
              <a:rPr lang="en-US" dirty="0"/>
              <a:t>Enhanced model </a:t>
            </a:r>
          </a:p>
          <a:p>
            <a:r>
              <a:rPr lang="en-US" dirty="0"/>
              <a:t>Dataset and preprocessing </a:t>
            </a:r>
          </a:p>
          <a:p>
            <a:r>
              <a:rPr lang="en-US" dirty="0"/>
              <a:t>Performance metrics </a:t>
            </a:r>
          </a:p>
          <a:p>
            <a:r>
              <a:rPr lang="en-US" dirty="0"/>
              <a:t>Experimental setup</a:t>
            </a:r>
          </a:p>
          <a:p>
            <a:r>
              <a:rPr lang="en-US" dirty="0"/>
              <a:t>Experiments and results  </a:t>
            </a:r>
          </a:p>
          <a:p>
            <a:endParaRPr lang="en-GB" dirty="0"/>
          </a:p>
        </p:txBody>
      </p:sp>
    </p:spTree>
    <p:extLst>
      <p:ext uri="{BB962C8B-B14F-4D97-AF65-F5344CB8AC3E}">
        <p14:creationId xmlns:p14="http://schemas.microsoft.com/office/powerpoint/2010/main" val="62808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D489-F605-91BF-F147-693C37428FC6}"/>
              </a:ext>
            </a:extLst>
          </p:cNvPr>
          <p:cNvSpPr>
            <a:spLocks noGrp="1"/>
          </p:cNvSpPr>
          <p:nvPr>
            <p:ph type="title"/>
          </p:nvPr>
        </p:nvSpPr>
        <p:spPr/>
        <p:txBody>
          <a:bodyPr/>
          <a:lstStyle/>
          <a:p>
            <a:r>
              <a:rPr lang="en-US" dirty="0"/>
              <a:t>Introduction </a:t>
            </a:r>
            <a:endParaRPr lang="en-GB" dirty="0"/>
          </a:p>
        </p:txBody>
      </p:sp>
      <p:sp>
        <p:nvSpPr>
          <p:cNvPr id="3" name="Content Placeholder 2">
            <a:extLst>
              <a:ext uri="{FF2B5EF4-FFF2-40B4-BE49-F238E27FC236}">
                <a16:creationId xmlns:a16="http://schemas.microsoft.com/office/drawing/2014/main" id="{0FDAFB45-954A-15C2-6796-C83FF0980710}"/>
              </a:ext>
            </a:extLst>
          </p:cNvPr>
          <p:cNvSpPr>
            <a:spLocks noGrp="1"/>
          </p:cNvSpPr>
          <p:nvPr>
            <p:ph idx="1"/>
          </p:nvPr>
        </p:nvSpPr>
        <p:spPr/>
        <p:txBody>
          <a:bodyPr/>
          <a:lstStyle/>
          <a:p>
            <a:r>
              <a:rPr lang="en-GB" dirty="0"/>
              <a:t>On the report of the WHO, cancer is considered one of the main causes of death. One of the most common and aggressive types is brain </a:t>
            </a:r>
            <a:r>
              <a:rPr lang="en-GB" dirty="0" err="1"/>
              <a:t>tumors</a:t>
            </a:r>
            <a:r>
              <a:rPr lang="en-GB" dirty="0"/>
              <a:t>.</a:t>
            </a:r>
          </a:p>
          <a:p>
            <a:r>
              <a:rPr lang="en-GB" dirty="0"/>
              <a:t>Early recognition of brain </a:t>
            </a:r>
            <a:r>
              <a:rPr lang="en-GB" dirty="0" err="1"/>
              <a:t>tumors</a:t>
            </a:r>
            <a:r>
              <a:rPr lang="en-GB" dirty="0"/>
              <a:t> is important for management planning.</a:t>
            </a:r>
          </a:p>
          <a:p>
            <a:r>
              <a:rPr lang="en-GB" dirty="0"/>
              <a:t>As the manual detection and classification of brain </a:t>
            </a:r>
            <a:r>
              <a:rPr lang="en-GB" dirty="0" err="1"/>
              <a:t>tumors</a:t>
            </a:r>
            <a:r>
              <a:rPr lang="en-GB" dirty="0"/>
              <a:t> can be time-consuming and error-prone, the process needs to be automated.</a:t>
            </a:r>
          </a:p>
        </p:txBody>
      </p:sp>
    </p:spTree>
    <p:extLst>
      <p:ext uri="{BB962C8B-B14F-4D97-AF65-F5344CB8AC3E}">
        <p14:creationId xmlns:p14="http://schemas.microsoft.com/office/powerpoint/2010/main" val="2245985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1C5EB-DB94-04BD-4A63-F536A1263395}"/>
              </a:ext>
            </a:extLst>
          </p:cNvPr>
          <p:cNvSpPr>
            <a:spLocks noGrp="1"/>
          </p:cNvSpPr>
          <p:nvPr>
            <p:ph type="title"/>
          </p:nvPr>
        </p:nvSpPr>
        <p:spPr/>
        <p:txBody>
          <a:bodyPr/>
          <a:lstStyle/>
          <a:p>
            <a:r>
              <a:rPr lang="en-US" dirty="0"/>
              <a:t>Literature Review </a:t>
            </a:r>
            <a:endParaRPr lang="en-GB" dirty="0"/>
          </a:p>
        </p:txBody>
      </p:sp>
      <p:graphicFrame>
        <p:nvGraphicFramePr>
          <p:cNvPr id="5" name="Diagram 4">
            <a:extLst>
              <a:ext uri="{FF2B5EF4-FFF2-40B4-BE49-F238E27FC236}">
                <a16:creationId xmlns:a16="http://schemas.microsoft.com/office/drawing/2014/main" id="{FED62497-E8B6-D33C-43E0-B30BFA408050}"/>
              </a:ext>
            </a:extLst>
          </p:cNvPr>
          <p:cNvGraphicFramePr/>
          <p:nvPr>
            <p:extLst>
              <p:ext uri="{D42A27DB-BD31-4B8C-83A1-F6EECF244321}">
                <p14:modId xmlns:p14="http://schemas.microsoft.com/office/powerpoint/2010/main" val="2767778101"/>
              </p:ext>
            </p:extLst>
          </p:nvPr>
        </p:nvGraphicFramePr>
        <p:xfrm>
          <a:off x="759124" y="1547004"/>
          <a:ext cx="10351698" cy="4798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299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B698-ABAF-DA2A-5EC7-B8A8478B477C}"/>
              </a:ext>
            </a:extLst>
          </p:cNvPr>
          <p:cNvSpPr>
            <a:spLocks noGrp="1"/>
          </p:cNvSpPr>
          <p:nvPr>
            <p:ph type="title"/>
          </p:nvPr>
        </p:nvSpPr>
        <p:spPr/>
        <p:txBody>
          <a:bodyPr/>
          <a:lstStyle/>
          <a:p>
            <a:r>
              <a:rPr lang="en-US" dirty="0"/>
              <a:t>Limitations </a:t>
            </a:r>
            <a:endParaRPr lang="en-GB" dirty="0"/>
          </a:p>
        </p:txBody>
      </p:sp>
      <p:sp>
        <p:nvSpPr>
          <p:cNvPr id="4" name="Rectangle 1">
            <a:extLst>
              <a:ext uri="{FF2B5EF4-FFF2-40B4-BE49-F238E27FC236}">
                <a16:creationId xmlns:a16="http://schemas.microsoft.com/office/drawing/2014/main" id="{11CE3A75-E411-3B25-E598-AE4F71D2B82A}"/>
              </a:ext>
            </a:extLst>
          </p:cNvPr>
          <p:cNvSpPr>
            <a:spLocks noGrp="1" noChangeArrowheads="1"/>
          </p:cNvSpPr>
          <p:nvPr>
            <p:ph idx="1"/>
          </p:nvPr>
        </p:nvSpPr>
        <p:spPr bwMode="auto">
          <a:xfrm>
            <a:off x="838200" y="1998264"/>
            <a:ext cx="897112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GB" dirty="0" err="1"/>
              <a:t>Currnt</a:t>
            </a:r>
            <a:r>
              <a:rPr lang="en-GB" dirty="0"/>
              <a:t> approaches focuses on local feature extraction and does not capture the global relationships.</a:t>
            </a:r>
          </a:p>
          <a:p>
            <a:pPr marL="0" lvl="0" indent="0" eaLnBrk="0" fontAlgn="base" hangingPunct="0">
              <a:lnSpc>
                <a:spcPct val="100000"/>
              </a:lnSpc>
              <a:spcBef>
                <a:spcPct val="0"/>
              </a:spcBef>
              <a:spcAft>
                <a:spcPct val="0"/>
              </a:spcAft>
              <a:buFontTx/>
              <a:buChar char="•"/>
            </a:pPr>
            <a:r>
              <a:rPr lang="en-GB" dirty="0"/>
              <a:t>There is a need to have transformer-based architectures to extract richer features.</a:t>
            </a:r>
            <a:endParaRPr kumimoji="0" lang="en-US" altLang="en-US" sz="1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664408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2BA4-EC78-6DEA-AC08-300179A7DC94}"/>
              </a:ext>
            </a:extLst>
          </p:cNvPr>
          <p:cNvSpPr>
            <a:spLocks noGrp="1"/>
          </p:cNvSpPr>
          <p:nvPr>
            <p:ph type="title"/>
          </p:nvPr>
        </p:nvSpPr>
        <p:spPr/>
        <p:txBody>
          <a:bodyPr/>
          <a:lstStyle/>
          <a:p>
            <a:r>
              <a:rPr lang="en-US" dirty="0"/>
              <a:t>Vanilla model</a:t>
            </a:r>
            <a:endParaRPr lang="en-GB" dirty="0"/>
          </a:p>
        </p:txBody>
      </p:sp>
      <p:pic>
        <p:nvPicPr>
          <p:cNvPr id="5" name="Content Placeholder 4" descr="A diagram of a block diagram&#10;&#10;AI-generated content may be incorrect.">
            <a:extLst>
              <a:ext uri="{FF2B5EF4-FFF2-40B4-BE49-F238E27FC236}">
                <a16:creationId xmlns:a16="http://schemas.microsoft.com/office/drawing/2014/main" id="{C3E11F30-4A04-7EDA-58B8-6E41C8F905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03774"/>
            <a:ext cx="11998518" cy="2650452"/>
          </a:xfrm>
        </p:spPr>
      </p:pic>
      <p:sp>
        <p:nvSpPr>
          <p:cNvPr id="6" name="TextBox 5">
            <a:extLst>
              <a:ext uri="{FF2B5EF4-FFF2-40B4-BE49-F238E27FC236}">
                <a16:creationId xmlns:a16="http://schemas.microsoft.com/office/drawing/2014/main" id="{868EFE50-3593-E6AE-AA5A-F03CB623133F}"/>
              </a:ext>
            </a:extLst>
          </p:cNvPr>
          <p:cNvSpPr txBox="1"/>
          <p:nvPr/>
        </p:nvSpPr>
        <p:spPr>
          <a:xfrm>
            <a:off x="3892688" y="4754226"/>
            <a:ext cx="4554747" cy="276999"/>
          </a:xfrm>
          <a:prstGeom prst="rect">
            <a:avLst/>
          </a:prstGeom>
          <a:noFill/>
        </p:spPr>
        <p:txBody>
          <a:bodyPr wrap="square" rtlCol="0">
            <a:spAutoFit/>
          </a:bodyPr>
          <a:lstStyle/>
          <a:p>
            <a:r>
              <a:rPr lang="en-GB" sz="1200" dirty="0"/>
              <a:t>Vanilla model EfficientNetB2 architecture [1]</a:t>
            </a:r>
          </a:p>
        </p:txBody>
      </p:sp>
    </p:spTree>
    <p:extLst>
      <p:ext uri="{BB962C8B-B14F-4D97-AF65-F5344CB8AC3E}">
        <p14:creationId xmlns:p14="http://schemas.microsoft.com/office/powerpoint/2010/main" val="3352898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314-4951-18E7-6F95-53E4CB07EE3A}"/>
              </a:ext>
            </a:extLst>
          </p:cNvPr>
          <p:cNvSpPr>
            <a:spLocks noGrp="1"/>
          </p:cNvSpPr>
          <p:nvPr>
            <p:ph type="title"/>
          </p:nvPr>
        </p:nvSpPr>
        <p:spPr/>
        <p:txBody>
          <a:bodyPr/>
          <a:lstStyle/>
          <a:p>
            <a:r>
              <a:rPr lang="en-US" dirty="0"/>
              <a:t>Challenges</a:t>
            </a:r>
            <a:endParaRPr lang="en-GB" dirty="0"/>
          </a:p>
        </p:txBody>
      </p:sp>
      <p:sp>
        <p:nvSpPr>
          <p:cNvPr id="3" name="Content Placeholder 2">
            <a:extLst>
              <a:ext uri="{FF2B5EF4-FFF2-40B4-BE49-F238E27FC236}">
                <a16:creationId xmlns:a16="http://schemas.microsoft.com/office/drawing/2014/main" id="{27A9CE4D-A6B1-6FB4-ADC1-8C39009B993A}"/>
              </a:ext>
            </a:extLst>
          </p:cNvPr>
          <p:cNvSpPr>
            <a:spLocks noGrp="1"/>
          </p:cNvSpPr>
          <p:nvPr>
            <p:ph idx="1"/>
          </p:nvPr>
        </p:nvSpPr>
        <p:spPr>
          <a:xfrm>
            <a:off x="838200" y="1825625"/>
            <a:ext cx="10515600" cy="1532926"/>
          </a:xfrm>
        </p:spPr>
        <p:txBody>
          <a:bodyPr>
            <a:normAutofit/>
          </a:bodyPr>
          <a:lstStyle/>
          <a:p>
            <a:r>
              <a:rPr lang="en-GB" dirty="0"/>
              <a:t>Limited ability to capture global relationships</a:t>
            </a:r>
          </a:p>
          <a:p>
            <a:r>
              <a:rPr lang="en-GB" dirty="0"/>
              <a:t>Confusion between visually similar classes</a:t>
            </a:r>
          </a:p>
          <a:p>
            <a:r>
              <a:rPr lang="en-GB" dirty="0"/>
              <a:t>No positional awareness</a:t>
            </a:r>
          </a:p>
          <a:p>
            <a:pPr marL="0" indent="0">
              <a:buNone/>
            </a:pPr>
            <a:endParaRPr lang="en-GB" dirty="0"/>
          </a:p>
        </p:txBody>
      </p:sp>
    </p:spTree>
    <p:extLst>
      <p:ext uri="{BB962C8B-B14F-4D97-AF65-F5344CB8AC3E}">
        <p14:creationId xmlns:p14="http://schemas.microsoft.com/office/powerpoint/2010/main" val="765807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997F4-45C8-A3DE-DBA6-458E3D619325}"/>
              </a:ext>
            </a:extLst>
          </p:cNvPr>
          <p:cNvSpPr>
            <a:spLocks noGrp="1"/>
          </p:cNvSpPr>
          <p:nvPr>
            <p:ph type="title"/>
          </p:nvPr>
        </p:nvSpPr>
        <p:spPr/>
        <p:txBody>
          <a:bodyPr/>
          <a:lstStyle/>
          <a:p>
            <a:r>
              <a:rPr lang="en-US" dirty="0"/>
              <a:t>Proposed Enhancement </a:t>
            </a:r>
            <a:endParaRPr lang="en-GB" dirty="0"/>
          </a:p>
        </p:txBody>
      </p:sp>
      <p:pic>
        <p:nvPicPr>
          <p:cNvPr id="7" name="Content Placeholder 6">
            <a:extLst>
              <a:ext uri="{FF2B5EF4-FFF2-40B4-BE49-F238E27FC236}">
                <a16:creationId xmlns:a16="http://schemas.microsoft.com/office/drawing/2014/main" id="{FB215C55-B810-9BAD-E7DA-108B7C29F130}"/>
              </a:ext>
            </a:extLst>
          </p:cNvPr>
          <p:cNvPicPr>
            <a:picLocks noGrp="1" noChangeAspect="1"/>
          </p:cNvPicPr>
          <p:nvPr>
            <p:ph idx="1"/>
          </p:nvPr>
        </p:nvPicPr>
        <p:blipFill>
          <a:blip r:embed="rId2"/>
          <a:stretch>
            <a:fillRect/>
          </a:stretch>
        </p:blipFill>
        <p:spPr>
          <a:xfrm>
            <a:off x="1173966" y="1777280"/>
            <a:ext cx="9706046" cy="4171981"/>
          </a:xfrm>
          <a:prstGeom prst="rect">
            <a:avLst/>
          </a:prstGeom>
        </p:spPr>
      </p:pic>
      <p:sp>
        <p:nvSpPr>
          <p:cNvPr id="9" name="TextBox 8">
            <a:extLst>
              <a:ext uri="{FF2B5EF4-FFF2-40B4-BE49-F238E27FC236}">
                <a16:creationId xmlns:a16="http://schemas.microsoft.com/office/drawing/2014/main" id="{92A82816-ED8C-B143-6925-D1597DD1998B}"/>
              </a:ext>
            </a:extLst>
          </p:cNvPr>
          <p:cNvSpPr txBox="1"/>
          <p:nvPr/>
        </p:nvSpPr>
        <p:spPr>
          <a:xfrm>
            <a:off x="4324710" y="5795372"/>
            <a:ext cx="6096000" cy="307777"/>
          </a:xfrm>
          <a:prstGeom prst="rect">
            <a:avLst/>
          </a:prstGeom>
          <a:noFill/>
        </p:spPr>
        <p:txBody>
          <a:bodyPr wrap="square">
            <a:spAutoFit/>
          </a:bodyPr>
          <a:lstStyle/>
          <a:p>
            <a:r>
              <a:rPr lang="en-GB" sz="1400" dirty="0"/>
              <a:t>proposed model EfficientNetB2 architecture</a:t>
            </a:r>
          </a:p>
        </p:txBody>
      </p:sp>
    </p:spTree>
    <p:extLst>
      <p:ext uri="{BB962C8B-B14F-4D97-AF65-F5344CB8AC3E}">
        <p14:creationId xmlns:p14="http://schemas.microsoft.com/office/powerpoint/2010/main" val="346712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FDAA-31F8-4F98-187B-5F8B0A0B34AB}"/>
              </a:ext>
            </a:extLst>
          </p:cNvPr>
          <p:cNvSpPr>
            <a:spLocks noGrp="1"/>
          </p:cNvSpPr>
          <p:nvPr>
            <p:ph type="title"/>
          </p:nvPr>
        </p:nvSpPr>
        <p:spPr>
          <a:xfrm>
            <a:off x="793662" y="386930"/>
            <a:ext cx="10066122" cy="1298448"/>
          </a:xfrm>
        </p:spPr>
        <p:txBody>
          <a:bodyPr anchor="b">
            <a:normAutofit/>
          </a:bodyPr>
          <a:lstStyle/>
          <a:p>
            <a:r>
              <a:rPr lang="en-US" sz="4800"/>
              <a:t>Dataset and preprocessing </a:t>
            </a:r>
            <a:endParaRPr lang="en-GB" sz="4800"/>
          </a:p>
        </p:txBody>
      </p:sp>
      <p:sp>
        <p:nvSpPr>
          <p:cNvPr id="7" name="Content Placeholder 6">
            <a:extLst>
              <a:ext uri="{FF2B5EF4-FFF2-40B4-BE49-F238E27FC236}">
                <a16:creationId xmlns:a16="http://schemas.microsoft.com/office/drawing/2014/main" id="{9BB5E507-DBA1-086B-85AD-E6B592C9B6D5}"/>
              </a:ext>
            </a:extLst>
          </p:cNvPr>
          <p:cNvSpPr>
            <a:spLocks noGrp="1"/>
          </p:cNvSpPr>
          <p:nvPr>
            <p:ph idx="1"/>
          </p:nvPr>
        </p:nvSpPr>
        <p:spPr>
          <a:xfrm>
            <a:off x="705928" y="2078666"/>
            <a:ext cx="4924245" cy="2481832"/>
          </a:xfrm>
        </p:spPr>
        <p:txBody>
          <a:bodyPr>
            <a:normAutofit/>
          </a:bodyPr>
          <a:lstStyle/>
          <a:p>
            <a:r>
              <a:rPr lang="en-GB" sz="1800" dirty="0"/>
              <a:t>resized into 240*240*3 to match the input shape that is required by the pretrained EfficientNetB2 model</a:t>
            </a:r>
          </a:p>
          <a:p>
            <a:r>
              <a:rPr lang="en-GB" sz="1800" dirty="0"/>
              <a:t>cropped by extracting the extreme points</a:t>
            </a:r>
          </a:p>
          <a:p>
            <a:r>
              <a:rPr lang="en-GB" sz="1800" dirty="0"/>
              <a:t>Grayscale </a:t>
            </a:r>
            <a:r>
              <a:rPr lang="en-US" sz="1800" dirty="0">
                <a:sym typeface="Wingdings" panose="05000000000000000000" pitchFamily="2" charset="2"/>
              </a:rPr>
              <a:t></a:t>
            </a:r>
            <a:r>
              <a:rPr lang="en-US" sz="1800" dirty="0"/>
              <a:t> </a:t>
            </a:r>
            <a:r>
              <a:rPr lang="en-GB" sz="1800" dirty="0"/>
              <a:t>Gaussian blur filter </a:t>
            </a:r>
            <a:r>
              <a:rPr lang="en-US" sz="1800" dirty="0">
                <a:sym typeface="Wingdings" panose="05000000000000000000" pitchFamily="2" charset="2"/>
              </a:rPr>
              <a:t></a:t>
            </a:r>
            <a:r>
              <a:rPr lang="en-US" sz="1800" dirty="0"/>
              <a:t> </a:t>
            </a:r>
            <a:r>
              <a:rPr lang="en-GB" sz="1800" dirty="0"/>
              <a:t>thresholding , erosion, and dilation</a:t>
            </a:r>
          </a:p>
          <a:p>
            <a:r>
              <a:rPr lang="en-GB" sz="1800" dirty="0"/>
              <a:t>shuffling is applied to enhance training</a:t>
            </a:r>
          </a:p>
        </p:txBody>
      </p:sp>
      <p:pic>
        <p:nvPicPr>
          <p:cNvPr id="5" name="Picture 4">
            <a:extLst>
              <a:ext uri="{FF2B5EF4-FFF2-40B4-BE49-F238E27FC236}">
                <a16:creationId xmlns:a16="http://schemas.microsoft.com/office/drawing/2014/main" id="{A6F859E1-A56B-466A-BBDC-4F912157E97E}"/>
              </a:ext>
            </a:extLst>
          </p:cNvPr>
          <p:cNvPicPr>
            <a:picLocks noChangeAspect="1"/>
          </p:cNvPicPr>
          <p:nvPr/>
        </p:nvPicPr>
        <p:blipFill>
          <a:blip r:embed="rId2"/>
          <a:stretch>
            <a:fillRect/>
          </a:stretch>
        </p:blipFill>
        <p:spPr>
          <a:xfrm>
            <a:off x="5709507" y="1636104"/>
            <a:ext cx="5150277" cy="1995732"/>
          </a:xfrm>
          <a:prstGeom prst="rect">
            <a:avLst/>
          </a:prstGeom>
        </p:spPr>
      </p:pic>
      <p:pic>
        <p:nvPicPr>
          <p:cNvPr id="9" name="Picture 8">
            <a:extLst>
              <a:ext uri="{FF2B5EF4-FFF2-40B4-BE49-F238E27FC236}">
                <a16:creationId xmlns:a16="http://schemas.microsoft.com/office/drawing/2014/main" id="{75C34882-E588-029C-32FB-4BFEE1269767}"/>
              </a:ext>
            </a:extLst>
          </p:cNvPr>
          <p:cNvPicPr>
            <a:picLocks noChangeAspect="1"/>
          </p:cNvPicPr>
          <p:nvPr/>
        </p:nvPicPr>
        <p:blipFill>
          <a:blip r:embed="rId3"/>
          <a:stretch>
            <a:fillRect/>
          </a:stretch>
        </p:blipFill>
        <p:spPr>
          <a:xfrm>
            <a:off x="5630173" y="4091698"/>
            <a:ext cx="4612257" cy="1952639"/>
          </a:xfrm>
          <a:prstGeom prst="rect">
            <a:avLst/>
          </a:prstGeom>
        </p:spPr>
      </p:pic>
    </p:spTree>
    <p:extLst>
      <p:ext uri="{BB962C8B-B14F-4D97-AF65-F5344CB8AC3E}">
        <p14:creationId xmlns:p14="http://schemas.microsoft.com/office/powerpoint/2010/main" val="3185662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7482-5841-84C6-CF0A-0B7B74D18B94}"/>
              </a:ext>
            </a:extLst>
          </p:cNvPr>
          <p:cNvSpPr>
            <a:spLocks noGrp="1"/>
          </p:cNvSpPr>
          <p:nvPr>
            <p:ph type="title"/>
          </p:nvPr>
        </p:nvSpPr>
        <p:spPr/>
        <p:txBody>
          <a:bodyPr/>
          <a:lstStyle/>
          <a:p>
            <a:r>
              <a:rPr lang="en-US" dirty="0"/>
              <a:t>Performance metrics </a:t>
            </a:r>
            <a:endParaRPr lang="en-GB" dirty="0"/>
          </a:p>
        </p:txBody>
      </p:sp>
      <p:sp>
        <p:nvSpPr>
          <p:cNvPr id="3" name="Content Placeholder 2">
            <a:extLst>
              <a:ext uri="{FF2B5EF4-FFF2-40B4-BE49-F238E27FC236}">
                <a16:creationId xmlns:a16="http://schemas.microsoft.com/office/drawing/2014/main" id="{E4A6FC55-03EB-F072-1826-0C1B75B893CE}"/>
              </a:ext>
            </a:extLst>
          </p:cNvPr>
          <p:cNvSpPr>
            <a:spLocks noGrp="1"/>
          </p:cNvSpPr>
          <p:nvPr>
            <p:ph idx="1"/>
          </p:nvPr>
        </p:nvSpPr>
        <p:spPr/>
        <p:txBody>
          <a:bodyPr>
            <a:normAutofit fontScale="92500" lnSpcReduction="10000"/>
          </a:bodyPr>
          <a:lstStyle/>
          <a:p>
            <a:r>
              <a:rPr lang="en-GB" dirty="0"/>
              <a:t>Accuracy: is the percentage of the instances that are classified correctly.</a:t>
            </a:r>
          </a:p>
          <a:p>
            <a:r>
              <a:rPr lang="en-GB" dirty="0"/>
              <a:t> Precision: percentage of true positive predictions. False positives must be avoided. </a:t>
            </a:r>
          </a:p>
          <a:p>
            <a:r>
              <a:rPr lang="en-GB" dirty="0"/>
              <a:t>Recall : is the percentage of true positive cases that the model predicts correctly. false negatives are dangerous.</a:t>
            </a:r>
          </a:p>
          <a:p>
            <a:r>
              <a:rPr lang="en-GB" dirty="0"/>
              <a:t>F1score : combine both Precision and recall. </a:t>
            </a:r>
          </a:p>
          <a:p>
            <a:r>
              <a:rPr lang="en-GB" dirty="0"/>
              <a:t>Confusion matrix : a layout that displays the number of correct and mistaken predictions by contrasting the actual and predicted labels. This layout provides an evaluation of the general model performance and the model performance for each class.</a:t>
            </a:r>
          </a:p>
        </p:txBody>
      </p:sp>
    </p:spTree>
    <p:extLst>
      <p:ext uri="{BB962C8B-B14F-4D97-AF65-F5344CB8AC3E}">
        <p14:creationId xmlns:p14="http://schemas.microsoft.com/office/powerpoint/2010/main" val="122074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74247-B050-E6FE-6CD7-AFFB3E3E7691}"/>
              </a:ext>
            </a:extLst>
          </p:cNvPr>
          <p:cNvSpPr>
            <a:spLocks noGrp="1"/>
          </p:cNvSpPr>
          <p:nvPr>
            <p:ph type="title"/>
          </p:nvPr>
        </p:nvSpPr>
        <p:spPr/>
        <p:txBody>
          <a:bodyPr/>
          <a:lstStyle/>
          <a:p>
            <a:r>
              <a:rPr lang="en-US" dirty="0"/>
              <a:t>Experimental setup</a:t>
            </a:r>
            <a:endParaRPr lang="en-GB" dirty="0"/>
          </a:p>
        </p:txBody>
      </p:sp>
      <p:pic>
        <p:nvPicPr>
          <p:cNvPr id="5" name="Content Placeholder 4">
            <a:extLst>
              <a:ext uri="{FF2B5EF4-FFF2-40B4-BE49-F238E27FC236}">
                <a16:creationId xmlns:a16="http://schemas.microsoft.com/office/drawing/2014/main" id="{D619BC01-A47D-8E6F-5FEA-52ABBC443C29}"/>
              </a:ext>
            </a:extLst>
          </p:cNvPr>
          <p:cNvPicPr>
            <a:picLocks noGrp="1" noChangeAspect="1"/>
          </p:cNvPicPr>
          <p:nvPr>
            <p:ph idx="1"/>
          </p:nvPr>
        </p:nvPicPr>
        <p:blipFill>
          <a:blip r:embed="rId2"/>
          <a:stretch>
            <a:fillRect/>
          </a:stretch>
        </p:blipFill>
        <p:spPr>
          <a:xfrm>
            <a:off x="906823" y="1338808"/>
            <a:ext cx="4464558" cy="4315027"/>
          </a:xfrm>
          <a:prstGeom prst="rect">
            <a:avLst/>
          </a:prstGeom>
        </p:spPr>
      </p:pic>
    </p:spTree>
    <p:extLst>
      <p:ext uri="{BB962C8B-B14F-4D97-AF65-F5344CB8AC3E}">
        <p14:creationId xmlns:p14="http://schemas.microsoft.com/office/powerpoint/2010/main" val="938734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C187-96AA-A617-D07B-DADAC7C817CE}"/>
              </a:ext>
            </a:extLst>
          </p:cNvPr>
          <p:cNvSpPr>
            <a:spLocks noGrp="1"/>
          </p:cNvSpPr>
          <p:nvPr>
            <p:ph type="title"/>
          </p:nvPr>
        </p:nvSpPr>
        <p:spPr/>
        <p:txBody>
          <a:bodyPr/>
          <a:lstStyle/>
          <a:p>
            <a:r>
              <a:rPr lang="en-US" dirty="0"/>
              <a:t>Experiments and Results </a:t>
            </a:r>
            <a:endParaRPr lang="en-GB" dirty="0"/>
          </a:p>
        </p:txBody>
      </p:sp>
      <p:graphicFrame>
        <p:nvGraphicFramePr>
          <p:cNvPr id="4" name="Content Placeholder 3">
            <a:extLst>
              <a:ext uri="{FF2B5EF4-FFF2-40B4-BE49-F238E27FC236}">
                <a16:creationId xmlns:a16="http://schemas.microsoft.com/office/drawing/2014/main" id="{E604E87B-CB2E-32A2-54E1-EC7C3E7D2410}"/>
              </a:ext>
            </a:extLst>
          </p:cNvPr>
          <p:cNvGraphicFramePr>
            <a:graphicFrameLocks noGrp="1"/>
          </p:cNvGraphicFramePr>
          <p:nvPr>
            <p:ph idx="1"/>
            <p:extLst>
              <p:ext uri="{D42A27DB-BD31-4B8C-83A1-F6EECF244321}">
                <p14:modId xmlns:p14="http://schemas.microsoft.com/office/powerpoint/2010/main" val="2934352274"/>
              </p:ext>
            </p:extLst>
          </p:nvPr>
        </p:nvGraphicFramePr>
        <p:xfrm>
          <a:off x="797943" y="1467471"/>
          <a:ext cx="10515600" cy="303276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1028492801"/>
                    </a:ext>
                  </a:extLst>
                </a:gridCol>
                <a:gridCol w="2628900">
                  <a:extLst>
                    <a:ext uri="{9D8B030D-6E8A-4147-A177-3AD203B41FA5}">
                      <a16:colId xmlns:a16="http://schemas.microsoft.com/office/drawing/2014/main" val="2877168458"/>
                    </a:ext>
                  </a:extLst>
                </a:gridCol>
                <a:gridCol w="2628900">
                  <a:extLst>
                    <a:ext uri="{9D8B030D-6E8A-4147-A177-3AD203B41FA5}">
                      <a16:colId xmlns:a16="http://schemas.microsoft.com/office/drawing/2014/main" val="782494086"/>
                    </a:ext>
                  </a:extLst>
                </a:gridCol>
                <a:gridCol w="2628900">
                  <a:extLst>
                    <a:ext uri="{9D8B030D-6E8A-4147-A177-3AD203B41FA5}">
                      <a16:colId xmlns:a16="http://schemas.microsoft.com/office/drawing/2014/main" val="757562895"/>
                    </a:ext>
                  </a:extLst>
                </a:gridCol>
              </a:tblGrid>
              <a:tr h="370840">
                <a:tc>
                  <a:txBody>
                    <a:bodyPr/>
                    <a:lstStyle/>
                    <a:p>
                      <a:r>
                        <a:rPr lang="en-GB" dirty="0"/>
                        <a:t>Model </a:t>
                      </a:r>
                    </a:p>
                  </a:txBody>
                  <a:tcPr/>
                </a:tc>
                <a:tc>
                  <a:txBody>
                    <a:bodyPr/>
                    <a:lstStyle/>
                    <a:p>
                      <a:r>
                        <a:rPr lang="en-GB" dirty="0"/>
                        <a:t>Accuracy</a:t>
                      </a:r>
                    </a:p>
                  </a:txBody>
                  <a:tcPr/>
                </a:tc>
                <a:tc>
                  <a:txBody>
                    <a:bodyPr/>
                    <a:lstStyle/>
                    <a:p>
                      <a:r>
                        <a:rPr lang="en-GB" dirty="0"/>
                        <a:t>Macro F1 </a:t>
                      </a:r>
                    </a:p>
                  </a:txBody>
                  <a:tcPr/>
                </a:tc>
                <a:tc>
                  <a:txBody>
                    <a:bodyPr/>
                    <a:lstStyle/>
                    <a:p>
                      <a:r>
                        <a:rPr lang="en-GB" dirty="0"/>
                        <a:t>Effect</a:t>
                      </a:r>
                    </a:p>
                  </a:txBody>
                  <a:tcPr/>
                </a:tc>
                <a:extLst>
                  <a:ext uri="{0D108BD9-81ED-4DB2-BD59-A6C34878D82A}">
                    <a16:rowId xmlns:a16="http://schemas.microsoft.com/office/drawing/2014/main" val="810349216"/>
                  </a:ext>
                </a:extLst>
              </a:tr>
              <a:tr h="370840">
                <a:tc>
                  <a:txBody>
                    <a:bodyPr/>
                    <a:lstStyle/>
                    <a:p>
                      <a:r>
                        <a:rPr lang="en-GB" dirty="0"/>
                        <a:t>Vanilla model </a:t>
                      </a:r>
                    </a:p>
                  </a:txBody>
                  <a:tcPr/>
                </a:tc>
                <a:tc>
                  <a:txBody>
                    <a:bodyPr/>
                    <a:lstStyle/>
                    <a:p>
                      <a:r>
                        <a:rPr lang="en-GB" dirty="0"/>
                        <a:t>0.9874 </a:t>
                      </a:r>
                    </a:p>
                  </a:txBody>
                  <a:tcPr/>
                </a:tc>
                <a:tc>
                  <a:txBody>
                    <a:bodyPr/>
                    <a:lstStyle/>
                    <a:p>
                      <a:r>
                        <a:rPr lang="en-GB" dirty="0"/>
                        <a:t>0.9873</a:t>
                      </a:r>
                    </a:p>
                  </a:txBody>
                  <a:tcPr/>
                </a:tc>
                <a:tc>
                  <a:txBody>
                    <a:bodyPr/>
                    <a:lstStyle/>
                    <a:p>
                      <a:r>
                        <a:rPr lang="en-GB" dirty="0"/>
                        <a:t>Base model </a:t>
                      </a:r>
                    </a:p>
                  </a:txBody>
                  <a:tcPr/>
                </a:tc>
                <a:extLst>
                  <a:ext uri="{0D108BD9-81ED-4DB2-BD59-A6C34878D82A}">
                    <a16:rowId xmlns:a16="http://schemas.microsoft.com/office/drawing/2014/main" val="3646054587"/>
                  </a:ext>
                </a:extLst>
              </a:tr>
              <a:tr h="370840">
                <a:tc>
                  <a:txBody>
                    <a:bodyPr/>
                    <a:lstStyle/>
                    <a:p>
                      <a:r>
                        <a:rPr lang="en-GB" dirty="0"/>
                        <a:t>Vanilla + Label smoothing </a:t>
                      </a:r>
                    </a:p>
                  </a:txBody>
                  <a:tcPr/>
                </a:tc>
                <a:tc>
                  <a:txBody>
                    <a:bodyPr/>
                    <a:lstStyle/>
                    <a:p>
                      <a:r>
                        <a:rPr lang="en-GB" dirty="0"/>
                        <a:t>0.9874 </a:t>
                      </a:r>
                    </a:p>
                  </a:txBody>
                  <a:tcPr/>
                </a:tc>
                <a:tc>
                  <a:txBody>
                    <a:bodyPr/>
                    <a:lstStyle/>
                    <a:p>
                      <a:r>
                        <a:rPr lang="en-GB" dirty="0"/>
                        <a:t>0.9875 </a:t>
                      </a:r>
                    </a:p>
                  </a:txBody>
                  <a:tcPr/>
                </a:tc>
                <a:tc>
                  <a:txBody>
                    <a:bodyPr/>
                    <a:lstStyle/>
                    <a:p>
                      <a:r>
                        <a:rPr lang="en-GB" dirty="0"/>
                        <a:t>Neutral effect</a:t>
                      </a:r>
                    </a:p>
                  </a:txBody>
                  <a:tcPr/>
                </a:tc>
                <a:extLst>
                  <a:ext uri="{0D108BD9-81ED-4DB2-BD59-A6C34878D82A}">
                    <a16:rowId xmlns:a16="http://schemas.microsoft.com/office/drawing/2014/main" val="3090514560"/>
                  </a:ext>
                </a:extLst>
              </a:tr>
              <a:tr h="370840">
                <a:tc>
                  <a:txBody>
                    <a:bodyPr/>
                    <a:lstStyle/>
                    <a:p>
                      <a:r>
                        <a:rPr lang="en-GB" dirty="0"/>
                        <a:t>Proposed model </a:t>
                      </a:r>
                    </a:p>
                  </a:txBody>
                  <a:tcPr/>
                </a:tc>
                <a:tc>
                  <a:txBody>
                    <a:bodyPr/>
                    <a:lstStyle/>
                    <a:p>
                      <a:r>
                        <a:rPr lang="en-GB" b="1" dirty="0"/>
                        <a:t>0.9874 </a:t>
                      </a:r>
                    </a:p>
                  </a:txBody>
                  <a:tcPr/>
                </a:tc>
                <a:tc>
                  <a:txBody>
                    <a:bodyPr/>
                    <a:lstStyle/>
                    <a:p>
                      <a:r>
                        <a:rPr lang="en-GB" b="1" dirty="0"/>
                        <a:t>0.9885</a:t>
                      </a:r>
                    </a:p>
                  </a:txBody>
                  <a:tcPr/>
                </a:tc>
                <a:tc>
                  <a:txBody>
                    <a:bodyPr/>
                    <a:lstStyle/>
                    <a:p>
                      <a:r>
                        <a:rPr lang="en-GB" dirty="0"/>
                        <a:t>BEST performance</a:t>
                      </a:r>
                    </a:p>
                  </a:txBody>
                  <a:tcPr/>
                </a:tc>
                <a:extLst>
                  <a:ext uri="{0D108BD9-81ED-4DB2-BD59-A6C34878D82A}">
                    <a16:rowId xmlns:a16="http://schemas.microsoft.com/office/drawing/2014/main" val="4198658117"/>
                  </a:ext>
                </a:extLst>
              </a:tr>
              <a:tr h="370840">
                <a:tc>
                  <a:txBody>
                    <a:bodyPr/>
                    <a:lstStyle/>
                    <a:p>
                      <a:r>
                        <a:rPr lang="en-GB" dirty="0"/>
                        <a:t>Proposed + Label smoothing </a:t>
                      </a:r>
                    </a:p>
                  </a:txBody>
                  <a:tcPr/>
                </a:tc>
                <a:tc>
                  <a:txBody>
                    <a:bodyPr/>
                    <a:lstStyle/>
                    <a:p>
                      <a:r>
                        <a:rPr lang="en-GB" dirty="0"/>
                        <a:t>0.9855 </a:t>
                      </a:r>
                    </a:p>
                  </a:txBody>
                  <a:tcPr/>
                </a:tc>
                <a:tc>
                  <a:txBody>
                    <a:bodyPr/>
                    <a:lstStyle/>
                    <a:p>
                      <a:r>
                        <a:rPr lang="en-GB" dirty="0"/>
                        <a:t>0.9854 </a:t>
                      </a:r>
                    </a:p>
                  </a:txBody>
                  <a:tcPr/>
                </a:tc>
                <a:tc>
                  <a:txBody>
                    <a:bodyPr/>
                    <a:lstStyle/>
                    <a:p>
                      <a:r>
                        <a:rPr lang="en-GB" dirty="0"/>
                        <a:t>Reduction in accuracy </a:t>
                      </a:r>
                    </a:p>
                  </a:txBody>
                  <a:tcPr/>
                </a:tc>
                <a:extLst>
                  <a:ext uri="{0D108BD9-81ED-4DB2-BD59-A6C34878D82A}">
                    <a16:rowId xmlns:a16="http://schemas.microsoft.com/office/drawing/2014/main" val="3675486849"/>
                  </a:ext>
                </a:extLst>
              </a:tr>
              <a:tr h="370840">
                <a:tc>
                  <a:txBody>
                    <a:bodyPr/>
                    <a:lstStyle/>
                    <a:p>
                      <a:r>
                        <a:rPr lang="en-GB" dirty="0"/>
                        <a:t>Proposed + CBAM attention </a:t>
                      </a:r>
                    </a:p>
                  </a:txBody>
                  <a:tcPr/>
                </a:tc>
                <a:tc>
                  <a:txBody>
                    <a:bodyPr/>
                    <a:lstStyle/>
                    <a:p>
                      <a:r>
                        <a:rPr lang="en-GB" dirty="0"/>
                        <a:t>0.9864 </a:t>
                      </a:r>
                    </a:p>
                  </a:txBody>
                  <a:tcPr/>
                </a:tc>
                <a:tc>
                  <a:txBody>
                    <a:bodyPr/>
                    <a:lstStyle/>
                    <a:p>
                      <a:r>
                        <a:rPr lang="en-GB" dirty="0"/>
                        <a:t>0.9865 </a:t>
                      </a:r>
                    </a:p>
                  </a:txBody>
                  <a:tcPr/>
                </a:tc>
                <a:tc>
                  <a:txBody>
                    <a:bodyPr/>
                    <a:lstStyle/>
                    <a:p>
                      <a:r>
                        <a:rPr lang="en-GB" dirty="0"/>
                        <a:t>Reduction in accuracy |</a:t>
                      </a:r>
                    </a:p>
                  </a:txBody>
                  <a:tcPr/>
                </a:tc>
                <a:extLst>
                  <a:ext uri="{0D108BD9-81ED-4DB2-BD59-A6C34878D82A}">
                    <a16:rowId xmlns:a16="http://schemas.microsoft.com/office/drawing/2014/main" val="1199886660"/>
                  </a:ext>
                </a:extLst>
              </a:tr>
            </a:tbl>
          </a:graphicData>
        </a:graphic>
      </p:graphicFrame>
    </p:spTree>
    <p:extLst>
      <p:ext uri="{BB962C8B-B14F-4D97-AF65-F5344CB8AC3E}">
        <p14:creationId xmlns:p14="http://schemas.microsoft.com/office/powerpoint/2010/main" val="342016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F3695-1816-325B-DEE5-917C04FF6471}"/>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Results (Vanilla model)</a:t>
            </a:r>
          </a:p>
        </p:txBody>
      </p:sp>
      <p:pic>
        <p:nvPicPr>
          <p:cNvPr id="5" name="Content Placeholder 4" descr="A blue and white squares with white text&#10;&#10;AI-generated content may be incorrect.">
            <a:extLst>
              <a:ext uri="{FF2B5EF4-FFF2-40B4-BE49-F238E27FC236}">
                <a16:creationId xmlns:a16="http://schemas.microsoft.com/office/drawing/2014/main" id="{7879DA76-5DA0-3697-2600-BD5882BDB6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1711" y="2365285"/>
            <a:ext cx="4527306" cy="3938756"/>
          </a:xfrm>
          <a:prstGeom prst="rect">
            <a:avLst/>
          </a:prstGeom>
        </p:spPr>
      </p:pic>
      <p:pic>
        <p:nvPicPr>
          <p:cNvPr id="7" name="Picture 6" descr="A graph of a function&#10;&#10;AI-generated content may be incorrect.">
            <a:extLst>
              <a:ext uri="{FF2B5EF4-FFF2-40B4-BE49-F238E27FC236}">
                <a16:creationId xmlns:a16="http://schemas.microsoft.com/office/drawing/2014/main" id="{B446B635-99D4-76EE-1EE9-DD25B68171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853" y="2365285"/>
            <a:ext cx="5828261" cy="2873824"/>
          </a:xfrm>
          <a:prstGeom prst="rect">
            <a:avLst/>
          </a:prstGeom>
        </p:spPr>
      </p:pic>
    </p:spTree>
    <p:extLst>
      <p:ext uri="{BB962C8B-B14F-4D97-AF65-F5344CB8AC3E}">
        <p14:creationId xmlns:p14="http://schemas.microsoft.com/office/powerpoint/2010/main" val="1815260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C1AFF-5A5E-4DBB-A74E-5F5D988F6F38}"/>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Results (vanilla model with label smoothing)</a:t>
            </a:r>
          </a:p>
        </p:txBody>
      </p:sp>
      <p:pic>
        <p:nvPicPr>
          <p:cNvPr id="5" name="Content Placeholder 4" descr="A blue and white squares with white text&#10;&#10;AI-generated content may be incorrect.">
            <a:extLst>
              <a:ext uri="{FF2B5EF4-FFF2-40B4-BE49-F238E27FC236}">
                <a16:creationId xmlns:a16="http://schemas.microsoft.com/office/drawing/2014/main" id="{8181B092-1CC9-338E-D28A-D209E59A6B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4566" y="2365285"/>
            <a:ext cx="5001596" cy="3938756"/>
          </a:xfrm>
          <a:prstGeom prst="rect">
            <a:avLst/>
          </a:prstGeom>
        </p:spPr>
      </p:pic>
      <p:pic>
        <p:nvPicPr>
          <p:cNvPr id="7" name="Picture 6" descr="A graph of a function&#10;&#10;AI-generated content may be incorrect.">
            <a:extLst>
              <a:ext uri="{FF2B5EF4-FFF2-40B4-BE49-F238E27FC236}">
                <a16:creationId xmlns:a16="http://schemas.microsoft.com/office/drawing/2014/main" id="{8794AC4D-1784-E55D-B60F-AA123DC77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2505" y="3372999"/>
            <a:ext cx="5828261" cy="1923327"/>
          </a:xfrm>
          <a:prstGeom prst="rect">
            <a:avLst/>
          </a:prstGeom>
        </p:spPr>
      </p:pic>
    </p:spTree>
    <p:extLst>
      <p:ext uri="{BB962C8B-B14F-4D97-AF65-F5344CB8AC3E}">
        <p14:creationId xmlns:p14="http://schemas.microsoft.com/office/powerpoint/2010/main" val="2490663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9B9D0-D6C5-C85C-70FE-C5217F5B6699}"/>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mj-lt"/>
                <a:ea typeface="+mj-ea"/>
                <a:cs typeface="+mj-cs"/>
              </a:rPr>
              <a:t>Results (enhanced model)</a:t>
            </a:r>
          </a:p>
        </p:txBody>
      </p:sp>
      <p:pic>
        <p:nvPicPr>
          <p:cNvPr id="5" name="Content Placeholder 4" descr="A blue squares with white text&#10;&#10;AI-generated content may be incorrect.">
            <a:extLst>
              <a:ext uri="{FF2B5EF4-FFF2-40B4-BE49-F238E27FC236}">
                <a16:creationId xmlns:a16="http://schemas.microsoft.com/office/drawing/2014/main" id="{393BA4A0-9790-802A-7670-AF0D6CAD03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0867" y="2365285"/>
            <a:ext cx="4688994" cy="3938756"/>
          </a:xfrm>
          <a:prstGeom prst="rect">
            <a:avLst/>
          </a:prstGeom>
        </p:spPr>
      </p:pic>
      <p:pic>
        <p:nvPicPr>
          <p:cNvPr id="7" name="Picture 6" descr="A graph of a graph&#10;&#10;AI-generated content may be incorrect.">
            <a:extLst>
              <a:ext uri="{FF2B5EF4-FFF2-40B4-BE49-F238E27FC236}">
                <a16:creationId xmlns:a16="http://schemas.microsoft.com/office/drawing/2014/main" id="{BCAEFC39-3AB1-7BC3-0F31-B660B6BEE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2417" y="2365285"/>
            <a:ext cx="6715346" cy="3099943"/>
          </a:xfrm>
          <a:prstGeom prst="rect">
            <a:avLst/>
          </a:prstGeom>
        </p:spPr>
      </p:pic>
    </p:spTree>
    <p:extLst>
      <p:ext uri="{BB962C8B-B14F-4D97-AF65-F5344CB8AC3E}">
        <p14:creationId xmlns:p14="http://schemas.microsoft.com/office/powerpoint/2010/main" val="2080456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73307-AC49-3B4F-80E2-B3EC40D8FDD5}"/>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mj-lt"/>
                <a:ea typeface="+mj-ea"/>
                <a:cs typeface="+mj-cs"/>
              </a:rPr>
              <a:t>Results (enhanced model with label smoothing )</a:t>
            </a:r>
          </a:p>
        </p:txBody>
      </p:sp>
      <p:pic>
        <p:nvPicPr>
          <p:cNvPr id="5" name="Content Placeholder 4" descr="A blue squares with white text&#10;&#10;AI-generated content may be incorrect.">
            <a:extLst>
              <a:ext uri="{FF2B5EF4-FFF2-40B4-BE49-F238E27FC236}">
                <a16:creationId xmlns:a16="http://schemas.microsoft.com/office/drawing/2014/main" id="{6B2E62BD-2F78-3C80-B176-2D071A0C1A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1711" y="2365285"/>
            <a:ext cx="4527306" cy="3938756"/>
          </a:xfrm>
          <a:prstGeom prst="rect">
            <a:avLst/>
          </a:prstGeom>
        </p:spPr>
      </p:pic>
      <p:pic>
        <p:nvPicPr>
          <p:cNvPr id="7" name="Picture 6" descr="A graph of a function&#10;&#10;AI-generated content may be incorrect.">
            <a:extLst>
              <a:ext uri="{FF2B5EF4-FFF2-40B4-BE49-F238E27FC236}">
                <a16:creationId xmlns:a16="http://schemas.microsoft.com/office/drawing/2014/main" id="{2B0264D4-D9C9-6291-C824-268CFB434F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2505" y="3372999"/>
            <a:ext cx="5828261" cy="1923327"/>
          </a:xfrm>
          <a:prstGeom prst="rect">
            <a:avLst/>
          </a:prstGeom>
        </p:spPr>
      </p:pic>
    </p:spTree>
    <p:extLst>
      <p:ext uri="{BB962C8B-B14F-4D97-AF65-F5344CB8AC3E}">
        <p14:creationId xmlns:p14="http://schemas.microsoft.com/office/powerpoint/2010/main" val="1191194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2CB42-4A8E-CDBE-8843-36AF662029D8}"/>
              </a:ext>
            </a:extLst>
          </p:cNvPr>
          <p:cNvSpPr>
            <a:spLocks noGrp="1"/>
          </p:cNvSpPr>
          <p:nvPr>
            <p:ph type="title"/>
          </p:nvPr>
        </p:nvSpPr>
        <p:spPr>
          <a:xfrm>
            <a:off x="638881" y="457199"/>
            <a:ext cx="10909640" cy="1338621"/>
          </a:xfrm>
        </p:spPr>
        <p:txBody>
          <a:bodyPr vert="horz" lIns="91440" tIns="45720" rIns="91440" bIns="45720" rtlCol="0" anchor="ctr">
            <a:normAutofit/>
          </a:bodyPr>
          <a:lstStyle/>
          <a:p>
            <a:pPr algn="ctr"/>
            <a:r>
              <a:rPr lang="en-US" sz="4600"/>
              <a:t>Results (enhanced model with CBAM layer)</a:t>
            </a:r>
          </a:p>
        </p:txBody>
      </p:sp>
      <p:pic>
        <p:nvPicPr>
          <p:cNvPr id="11" name="Content Placeholder 10" descr="A blue and white squares with white text&#10;&#10;AI-generated content may be incorrect.">
            <a:extLst>
              <a:ext uri="{FF2B5EF4-FFF2-40B4-BE49-F238E27FC236}">
                <a16:creationId xmlns:a16="http://schemas.microsoft.com/office/drawing/2014/main" id="{4F909B5E-EF0B-A04B-A8FD-36737E5F72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3703" y="2517406"/>
            <a:ext cx="4263993" cy="3730994"/>
          </a:xfrm>
          <a:prstGeom prst="rect">
            <a:avLst/>
          </a:prstGeom>
        </p:spPr>
      </p:pic>
      <p:pic>
        <p:nvPicPr>
          <p:cNvPr id="13" name="Picture 12" descr="A comparison of a graph&#10;&#10;AI-generated content may be incorrect.">
            <a:extLst>
              <a:ext uri="{FF2B5EF4-FFF2-40B4-BE49-F238E27FC236}">
                <a16:creationId xmlns:a16="http://schemas.microsoft.com/office/drawing/2014/main" id="{8C593600-EF38-0F00-A7ED-03EB560C4E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6158" y="3266615"/>
            <a:ext cx="6352754" cy="2112289"/>
          </a:xfrm>
          <a:prstGeom prst="rect">
            <a:avLst/>
          </a:prstGeom>
        </p:spPr>
      </p:pic>
    </p:spTree>
    <p:extLst>
      <p:ext uri="{BB962C8B-B14F-4D97-AF65-F5344CB8AC3E}">
        <p14:creationId xmlns:p14="http://schemas.microsoft.com/office/powerpoint/2010/main" val="2379551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20C3E-2CB7-91FA-C11F-9F53006839A7}"/>
              </a:ext>
            </a:extLst>
          </p:cNvPr>
          <p:cNvSpPr>
            <a:spLocks noGrp="1"/>
          </p:cNvSpPr>
          <p:nvPr>
            <p:ph type="title"/>
          </p:nvPr>
        </p:nvSpPr>
        <p:spPr/>
        <p:txBody>
          <a:bodyPr/>
          <a:lstStyle/>
          <a:p>
            <a:r>
              <a:rPr lang="en-US" dirty="0"/>
              <a:t>Conclusion and future work </a:t>
            </a:r>
            <a:endParaRPr lang="en-GB" dirty="0"/>
          </a:p>
        </p:txBody>
      </p:sp>
      <p:sp>
        <p:nvSpPr>
          <p:cNvPr id="5" name="Rectangle 2">
            <a:extLst>
              <a:ext uri="{FF2B5EF4-FFF2-40B4-BE49-F238E27FC236}">
                <a16:creationId xmlns:a16="http://schemas.microsoft.com/office/drawing/2014/main" id="{BDA0D7BE-9E26-5340-C938-15F0A445251E}"/>
              </a:ext>
            </a:extLst>
          </p:cNvPr>
          <p:cNvSpPr>
            <a:spLocks noGrp="1" noChangeArrowheads="1"/>
          </p:cNvSpPr>
          <p:nvPr>
            <p:ph idx="1"/>
          </p:nvPr>
        </p:nvSpPr>
        <p:spPr bwMode="auto">
          <a:xfrm>
            <a:off x="838199" y="1457426"/>
            <a:ext cx="1060599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Body)"/>
              </a:rPr>
              <a:t>Hybrid </a:t>
            </a:r>
            <a:r>
              <a:rPr kumimoji="0" lang="en-US" altLang="en-US" sz="1800" b="0" i="0" u="none" strike="noStrike" cap="none" normalizeH="0" baseline="0" dirty="0" err="1">
                <a:ln>
                  <a:noFill/>
                </a:ln>
                <a:solidFill>
                  <a:schemeClr val="tx1"/>
                </a:solidFill>
                <a:effectLst/>
                <a:latin typeface="Aptos (Body)"/>
              </a:rPr>
              <a:t>EfficientNet</a:t>
            </a:r>
            <a:r>
              <a:rPr kumimoji="0" lang="en-US" altLang="en-US" sz="1800" b="0" i="0" u="none" strike="noStrike" cap="none" normalizeH="0" baseline="0" dirty="0">
                <a:ln>
                  <a:noFill/>
                </a:ln>
                <a:solidFill>
                  <a:schemeClr val="tx1"/>
                </a:solidFill>
                <a:effectLst/>
                <a:latin typeface="Aptos (Body)"/>
              </a:rPr>
              <a:t> + Transformer architecture improves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Body)"/>
              </a:rPr>
              <a:t>Better at modeling spatial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Body)"/>
              </a:rPr>
              <a:t>Stronger glioma classification</a:t>
            </a:r>
          </a:p>
          <a:p>
            <a:pPr marL="0" lvl="0" indent="0" eaLnBrk="0" fontAlgn="base" hangingPunct="0">
              <a:lnSpc>
                <a:spcPct val="100000"/>
              </a:lnSpc>
              <a:spcBef>
                <a:spcPct val="0"/>
              </a:spcBef>
              <a:spcAft>
                <a:spcPct val="0"/>
              </a:spcAft>
              <a:buFontTx/>
              <a:buChar char="•"/>
            </a:pPr>
            <a:r>
              <a:rPr lang="en-GB" sz="1800" dirty="0"/>
              <a:t>Further directions can be explored: </a:t>
            </a:r>
          </a:p>
          <a:p>
            <a:pPr lvl="1" eaLnBrk="0" fontAlgn="base" hangingPunct="0">
              <a:lnSpc>
                <a:spcPct val="100000"/>
              </a:lnSpc>
              <a:spcBef>
                <a:spcPct val="0"/>
              </a:spcBef>
              <a:spcAft>
                <a:spcPct val="0"/>
              </a:spcAft>
              <a:buFont typeface="Courier New" panose="02070309020205020404" pitchFamily="49" charset="0"/>
              <a:buChar char="o"/>
            </a:pPr>
            <a:r>
              <a:rPr lang="en-GB" sz="1400" dirty="0"/>
              <a:t>combining the transformer with other models with different numbers of transformer layers to enhance feature capturing .</a:t>
            </a:r>
          </a:p>
          <a:p>
            <a:pPr lvl="1" eaLnBrk="0" fontAlgn="base" hangingPunct="0">
              <a:lnSpc>
                <a:spcPct val="100000"/>
              </a:lnSpc>
              <a:spcBef>
                <a:spcPct val="0"/>
              </a:spcBef>
              <a:spcAft>
                <a:spcPct val="0"/>
              </a:spcAft>
              <a:buFont typeface="Courier New" panose="02070309020205020404" pitchFamily="49" charset="0"/>
              <a:buChar char="o"/>
            </a:pPr>
            <a:r>
              <a:rPr lang="en-GB" sz="1400" dirty="0"/>
              <a:t>evaluate the system on a larger, more diverse dataset to assess the robustness and generalization.</a:t>
            </a:r>
            <a:endParaRPr lang="en-US" altLang="en-US" sz="1400" dirty="0">
              <a:latin typeface="Aptos (Body)"/>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ptos (Body)"/>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ptos (Body)"/>
            </a:endParaRPr>
          </a:p>
        </p:txBody>
      </p:sp>
    </p:spTree>
    <p:extLst>
      <p:ext uri="{BB962C8B-B14F-4D97-AF65-F5344CB8AC3E}">
        <p14:creationId xmlns:p14="http://schemas.microsoft.com/office/powerpoint/2010/main" val="4209293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901C0-CBEE-4B4E-5378-83C0A539D3FD}"/>
              </a:ext>
            </a:extLst>
          </p:cNvPr>
          <p:cNvSpPr>
            <a:spLocks noGrp="1"/>
          </p:cNvSpPr>
          <p:nvPr>
            <p:ph type="title"/>
          </p:nvPr>
        </p:nvSpPr>
        <p:spPr/>
        <p:txBody>
          <a:bodyPr/>
          <a:lstStyle/>
          <a:p>
            <a:r>
              <a:rPr lang="en-US" dirty="0"/>
              <a:t>References </a:t>
            </a:r>
            <a:endParaRPr lang="en-GB" dirty="0"/>
          </a:p>
        </p:txBody>
      </p:sp>
      <p:sp>
        <p:nvSpPr>
          <p:cNvPr id="3" name="Content Placeholder 2">
            <a:extLst>
              <a:ext uri="{FF2B5EF4-FFF2-40B4-BE49-F238E27FC236}">
                <a16:creationId xmlns:a16="http://schemas.microsoft.com/office/drawing/2014/main" id="{2F1BCB8D-3BF0-2D85-F854-F782D2ACF2F6}"/>
              </a:ext>
            </a:extLst>
          </p:cNvPr>
          <p:cNvSpPr>
            <a:spLocks noGrp="1"/>
          </p:cNvSpPr>
          <p:nvPr>
            <p:ph idx="1"/>
          </p:nvPr>
        </p:nvSpPr>
        <p:spPr/>
        <p:txBody>
          <a:bodyPr>
            <a:normAutofit/>
          </a:bodyPr>
          <a:lstStyle/>
          <a:p>
            <a:r>
              <a:rPr lang="en-US" sz="1800" dirty="0"/>
              <a:t>[1]</a:t>
            </a:r>
            <a:r>
              <a:rPr lang="en-GB" sz="1800" dirty="0"/>
              <a:t> F. Zulfiqar, U. I. Bajwa, and Y. Mehmood, ”Multi-class classification of brain </a:t>
            </a:r>
            <a:r>
              <a:rPr lang="en-GB" sz="1800" dirty="0" err="1"/>
              <a:t>tumor</a:t>
            </a:r>
            <a:r>
              <a:rPr lang="en-GB" sz="1800" dirty="0"/>
              <a:t> types from MR images using </a:t>
            </a:r>
            <a:r>
              <a:rPr lang="en-GB" sz="1800" dirty="0" err="1"/>
              <a:t>EfficientNets</a:t>
            </a:r>
            <a:r>
              <a:rPr lang="en-GB" sz="1800" dirty="0"/>
              <a:t>,” Biomedical Signal Processing and Control, vol. 84, p. 104777, 2023.</a:t>
            </a:r>
          </a:p>
        </p:txBody>
      </p:sp>
    </p:spTree>
    <p:extLst>
      <p:ext uri="{BB962C8B-B14F-4D97-AF65-F5344CB8AC3E}">
        <p14:creationId xmlns:p14="http://schemas.microsoft.com/office/powerpoint/2010/main" val="40805551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540</Words>
  <Application>Microsoft Office PowerPoint</Application>
  <PresentationFormat>Widescreen</PresentationFormat>
  <Paragraphs>88</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(Body)</vt:lpstr>
      <vt:lpstr>Aptos Display</vt:lpstr>
      <vt:lpstr>Arial</vt:lpstr>
      <vt:lpstr>Courier New</vt:lpstr>
      <vt:lpstr>Times New Roman</vt:lpstr>
      <vt:lpstr>Wingdings</vt:lpstr>
      <vt:lpstr>Office Theme</vt:lpstr>
      <vt:lpstr>Transformer-Enhanced EfficientNet Architecture for Multi-Class Brain Tumor Classification</vt:lpstr>
      <vt:lpstr>Outline :</vt:lpstr>
      <vt:lpstr>Introduction </vt:lpstr>
      <vt:lpstr>Literature Review </vt:lpstr>
      <vt:lpstr>Limitations </vt:lpstr>
      <vt:lpstr>Vanilla model</vt:lpstr>
      <vt:lpstr>Challenges</vt:lpstr>
      <vt:lpstr>Proposed Enhancement </vt:lpstr>
      <vt:lpstr>Dataset and preprocessing </vt:lpstr>
      <vt:lpstr>Performance metrics </vt:lpstr>
      <vt:lpstr>Experimental setup</vt:lpstr>
      <vt:lpstr>Experiments and Results </vt:lpstr>
      <vt:lpstr>Results (Vanilla model)</vt:lpstr>
      <vt:lpstr>Results (vanilla model with label smoothing)</vt:lpstr>
      <vt:lpstr>Results (enhanced model)</vt:lpstr>
      <vt:lpstr>Results (enhanced model with label smoothing )</vt:lpstr>
      <vt:lpstr>Results (enhanced model with CBAM layer)</vt:lpstr>
      <vt:lpstr>Conclusion and future work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Asrar Abdulrahman Almogbil</dc:creator>
  <cp:lastModifiedBy>Asrar Abdulrahman Almogbil</cp:lastModifiedBy>
  <cp:revision>5</cp:revision>
  <dcterms:created xsi:type="dcterms:W3CDTF">2025-11-25T07:43:31Z</dcterms:created>
  <dcterms:modified xsi:type="dcterms:W3CDTF">2025-11-27T14:21:48Z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96578f-6ae1-40cd-93dd-1a3b7a6ede66_Enabled">
    <vt:lpwstr>true</vt:lpwstr>
  </property>
  <property fmtid="{D5CDD505-2E9C-101B-9397-08002B2CF9AE}" pid="3" name="MSIP_Label_b196578f-6ae1-40cd-93dd-1a3b7a6ede66_SetDate">
    <vt:lpwstr>2025-11-25T10:13:51Z</vt:lpwstr>
  </property>
  <property fmtid="{D5CDD505-2E9C-101B-9397-08002B2CF9AE}" pid="4" name="MSIP_Label_b196578f-6ae1-40cd-93dd-1a3b7a6ede66_Method">
    <vt:lpwstr>Standard</vt:lpwstr>
  </property>
  <property fmtid="{D5CDD505-2E9C-101B-9397-08002B2CF9AE}" pid="5" name="MSIP_Label_b196578f-6ae1-40cd-93dd-1a3b7a6ede66_Name">
    <vt:lpwstr>Public - عام</vt:lpwstr>
  </property>
  <property fmtid="{D5CDD505-2E9C-101B-9397-08002B2CF9AE}" pid="6" name="MSIP_Label_b196578f-6ae1-40cd-93dd-1a3b7a6ede66_SiteId">
    <vt:lpwstr>2c86bbfc-8d04-41ff-a83a-942f075e0f60</vt:lpwstr>
  </property>
  <property fmtid="{D5CDD505-2E9C-101B-9397-08002B2CF9AE}" pid="7" name="MSIP_Label_b196578f-6ae1-40cd-93dd-1a3b7a6ede66_ActionId">
    <vt:lpwstr>3db86f50-1579-406c-b5d0-0926ca03b835</vt:lpwstr>
  </property>
  <property fmtid="{D5CDD505-2E9C-101B-9397-08002B2CF9AE}" pid="8" name="MSIP_Label_b196578f-6ae1-40cd-93dd-1a3b7a6ede66_ContentBits">
    <vt:lpwstr>0</vt:lpwstr>
  </property>
  <property fmtid="{D5CDD505-2E9C-101B-9397-08002B2CF9AE}" pid="9" name="MSIP_Label_b196578f-6ae1-40cd-93dd-1a3b7a6ede66_Tag">
    <vt:lpwstr>10, 3, 0, 1</vt:lpwstr>
  </property>
</Properties>
</file>